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65" r:id="rId5"/>
    <p:sldId id="266" r:id="rId6"/>
    <p:sldId id="260" r:id="rId7"/>
    <p:sldId id="264" r:id="rId8"/>
    <p:sldId id="259" r:id="rId9"/>
    <p:sldId id="263" r:id="rId10"/>
    <p:sldId id="262" r:id="rId11"/>
    <p:sldId id="261" r:id="rId12"/>
  </p:sldIdLst>
  <p:sldSz cx="14630400" cy="8229600"/>
  <p:notesSz cx="8229600" cy="14630400"/>
  <p:embeddedFontLst>
    <p:embeddedFont>
      <p:font typeface="BIZ UDPMincho Medium" panose="02020500000000000000" pitchFamily="18" charset="-128"/>
      <p:regular r:id="rId14"/>
    </p:embeddedFont>
    <p:embeddedFont>
      <p:font typeface="Fira Sans" panose="020B0503050000020004" pitchFamily="34" charset="0"/>
      <p:regular r:id="rId15"/>
      <p:bold r:id="rId16"/>
      <p:italic r:id="rId17"/>
    </p:embeddedFont>
    <p:embeddedFont>
      <p:font typeface="Inconsolata Bold" pitchFamily="1" charset="0"/>
      <p:bold r:id="rId1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6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3287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48087-7BE3-BBA6-C5DD-C3E3518F1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98F0B-8CE9-C73A-432E-C8FCD7E2A4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056A13-BBE6-7D28-67E6-8045E37EB3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7E1552-6DD5-0871-232C-50D4905D212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136097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6E97-20F5-7C0A-08BB-DC68B64A8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572E2-61BD-A453-7579-E79F3A50C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34EE4-EACD-6239-D79B-B06172B245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F87377-A7B8-B344-6F75-B7DAF0FF147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19320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AD8DC-D208-8B75-283F-461E58B95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EB6F4-5A49-EBDD-AC9F-DE80B8250B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F7A46-11FF-783B-81FC-977A910045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BDCE51-EFCD-B575-1BBD-D8EE3856A19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18221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60369-C087-2578-B9FE-4606B822D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61293-0E36-4172-8950-0D0FE3185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C81DF6-35F3-A687-AE52-2B9C139CDA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8DC34E-E6A7-8FA6-5D63-E6E2B93FC32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428641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0B16C-CD8A-C8B2-0615-7F48F6AFA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170D7-B57C-3CC3-88D9-85AA789C95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06391-B6E0-6287-720D-264439AEAA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BDAAA-DCE8-F3BA-6827-9307845CF4E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10706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txBody>
          <a:bodyPr/>
          <a:lstStyle/>
          <a:p>
            <a:endParaRPr lang="zh-CN" altLang="en-US"/>
          </a:p>
        </p:txBody>
      </p:sp>
      <p:sp>
        <p:nvSpPr>
          <p:cNvPr id="3" name="Shape 1"/>
          <p:cNvSpPr/>
          <p:nvPr/>
        </p:nvSpPr>
        <p:spPr>
          <a:xfrm>
            <a:off x="0" y="0"/>
            <a:ext cx="14630400" cy="8229600"/>
          </a:xfrm>
          <a:prstGeom prst="rect">
            <a:avLst/>
          </a:prstGeom>
          <a:solidFill>
            <a:srgbClr val="241631"/>
          </a:solidFill>
          <a:ln/>
        </p:spPr>
        <p:txBody>
          <a:bodyPr/>
          <a:lstStyle/>
          <a:p>
            <a:endParaRPr lang="zh-CN" alt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406021"/>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F94CAF"/>
                </a:solidFill>
                <a:latin typeface="BIZ UDPMincho Medium" panose="02020500000000000000" pitchFamily="18" charset="-128"/>
                <a:ea typeface="BIZ UDPMincho Medium" panose="02020500000000000000" pitchFamily="18" charset="-128"/>
                <a:cs typeface="Inconsolata Bold" pitchFamily="34" charset="-120"/>
              </a:rPr>
              <a:t>Testing Consumer Reactions to Direct Mail Ads: Option A vs Option B</a:t>
            </a:r>
            <a:endParaRPr lang="en-US" sz="4450" dirty="0">
              <a:latin typeface="BIZ UDPMincho Medium" panose="02020500000000000000" pitchFamily="18" charset="-128"/>
              <a:ea typeface="BIZ UDPMincho Medium" panose="02020500000000000000" pitchFamily="18" charset="-128"/>
            </a:endParaRPr>
          </a:p>
        </p:txBody>
      </p:sp>
      <p:pic>
        <p:nvPicPr>
          <p:cNvPr id="3" name="图片 2">
            <a:extLst>
              <a:ext uri="{FF2B5EF4-FFF2-40B4-BE49-F238E27FC236}">
                <a16:creationId xmlns:a16="http://schemas.microsoft.com/office/drawing/2014/main" id="{347AA8E6-438F-CD70-FD8B-40D1978B07FA}"/>
              </a:ext>
            </a:extLst>
          </p:cNvPr>
          <p:cNvPicPr>
            <a:picLocks noChangeAspect="1"/>
          </p:cNvPicPr>
          <p:nvPr/>
        </p:nvPicPr>
        <p:blipFill>
          <a:blip r:embed="rId3"/>
          <a:stretch>
            <a:fillRect/>
          </a:stretch>
        </p:blipFill>
        <p:spPr>
          <a:xfrm>
            <a:off x="12878381" y="7683818"/>
            <a:ext cx="1664811" cy="5192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38513"/>
            <a:ext cx="6236732"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Background &amp; Objective</a:t>
            </a:r>
            <a:endParaRPr lang="en-US" sz="4450" dirty="0"/>
          </a:p>
        </p:txBody>
      </p:sp>
      <p:sp>
        <p:nvSpPr>
          <p:cNvPr id="3" name="Text 1"/>
          <p:cNvSpPr/>
          <p:nvPr/>
        </p:nvSpPr>
        <p:spPr>
          <a:xfrm>
            <a:off x="793790" y="260092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MVP tested two direct-mail Medicare Advantage ad concepts (Option A and B) and each ad was shown to a unique sample of 500 respondents.</a:t>
            </a:r>
            <a:endParaRPr lang="en-US" sz="1750" dirty="0"/>
          </a:p>
        </p:txBody>
      </p:sp>
      <p:sp>
        <p:nvSpPr>
          <p:cNvPr id="4" name="Text 2"/>
          <p:cNvSpPr/>
          <p:nvPr/>
        </p:nvSpPr>
        <p:spPr>
          <a:xfrm>
            <a:off x="793790" y="358187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Respondents rated:</a:t>
            </a:r>
            <a:endParaRPr lang="en-US" sz="1750" dirty="0"/>
          </a:p>
        </p:txBody>
      </p:sp>
      <p:sp>
        <p:nvSpPr>
          <p:cNvPr id="5" name="Text 3"/>
          <p:cNvSpPr/>
          <p:nvPr/>
        </p:nvSpPr>
        <p:spPr>
          <a:xfrm>
            <a:off x="793790" y="419993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Likelihood to Open the Mailer (Column E)</a:t>
            </a:r>
            <a:endParaRPr lang="en-US" sz="1750" dirty="0"/>
          </a:p>
        </p:txBody>
      </p:sp>
      <p:sp>
        <p:nvSpPr>
          <p:cNvPr id="6" name="Text 4"/>
          <p:cNvSpPr/>
          <p:nvPr/>
        </p:nvSpPr>
        <p:spPr>
          <a:xfrm>
            <a:off x="793790" y="464212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Likelihood </a:t>
            </a:r>
            <a:r>
              <a:rPr lang="en-US" sz="1750" i="1" dirty="0">
                <a:solidFill>
                  <a:srgbClr val="DAD1E6"/>
                </a:solidFill>
                <a:latin typeface="Fira Sans" pitchFamily="34" charset="0"/>
                <a:ea typeface="Fira Sans" pitchFamily="34" charset="-122"/>
                <a:cs typeface="Fira Sans" pitchFamily="34" charset="-120"/>
              </a:rPr>
              <a:t>to Take the Next Step / Contact MVP</a:t>
            </a:r>
            <a:r>
              <a:rPr lang="en-US" sz="1750" dirty="0">
                <a:solidFill>
                  <a:srgbClr val="DAD1E6"/>
                </a:solidFill>
                <a:latin typeface="Fira Sans" pitchFamily="34" charset="0"/>
                <a:ea typeface="Fira Sans" pitchFamily="34" charset="-122"/>
                <a:cs typeface="Fira Sans" pitchFamily="34" charset="-120"/>
              </a:rPr>
              <a:t> (Column S)</a:t>
            </a:r>
            <a:endParaRPr lang="en-US" sz="1750" dirty="0"/>
          </a:p>
        </p:txBody>
      </p:sp>
      <p:sp>
        <p:nvSpPr>
          <p:cNvPr id="7" name="Text 5"/>
          <p:cNvSpPr/>
          <p:nvPr/>
        </p:nvSpPr>
        <p:spPr>
          <a:xfrm>
            <a:off x="793790" y="508432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Ratings captured on a 1–5 scale (1 = Not Likely, 5 = Extremely Likely)</a:t>
            </a:r>
            <a:endParaRPr lang="en-US" sz="1750" dirty="0"/>
          </a:p>
        </p:txBody>
      </p:sp>
      <p:sp>
        <p:nvSpPr>
          <p:cNvPr id="8" name="Text 6"/>
          <p:cNvSpPr/>
          <p:nvPr/>
        </p:nvSpPr>
        <p:spPr>
          <a:xfrm>
            <a:off x="793790" y="5702379"/>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We ran independent-sample t-tests to compare mean ratings for both ads and determine if the differences were statistically significant. We also analyzed results by gender and household income to identify which demographic segments showed stronger preferences or response patterns</a:t>
            </a:r>
            <a:endParaRPr lang="en-US" sz="1750" dirty="0"/>
          </a:p>
        </p:txBody>
      </p:sp>
      <p:pic>
        <p:nvPicPr>
          <p:cNvPr id="10" name="图片 9">
            <a:extLst>
              <a:ext uri="{FF2B5EF4-FFF2-40B4-BE49-F238E27FC236}">
                <a16:creationId xmlns:a16="http://schemas.microsoft.com/office/drawing/2014/main" id="{6ECE0105-C9E1-2410-307D-28EB822CFB7E}"/>
              </a:ext>
            </a:extLst>
          </p:cNvPr>
          <p:cNvPicPr>
            <a:picLocks noChangeAspect="1"/>
          </p:cNvPicPr>
          <p:nvPr/>
        </p:nvPicPr>
        <p:blipFill>
          <a:blip r:embed="rId3"/>
          <a:stretch>
            <a:fillRect/>
          </a:stretch>
        </p:blipFill>
        <p:spPr>
          <a:xfrm>
            <a:off x="12878381" y="7683818"/>
            <a:ext cx="1664811" cy="5192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99053"/>
            <a:ext cx="11326297" cy="602456"/>
          </a:xfrm>
          <a:prstGeom prst="rect">
            <a:avLst/>
          </a:prstGeom>
          <a:noFill/>
          <a:ln/>
        </p:spPr>
        <p:txBody>
          <a:bodyPr wrap="none" lIns="0" tIns="0" rIns="0" bIns="0" rtlCol="0" anchor="t"/>
          <a:lstStyle/>
          <a:p>
            <a:pPr marL="0" indent="0" algn="l">
              <a:lnSpc>
                <a:spcPts val="4700"/>
              </a:lnSpc>
              <a:buNone/>
            </a:pPr>
            <a:r>
              <a:rPr lang="en-US" sz="3750" b="1" dirty="0">
                <a:solidFill>
                  <a:srgbClr val="F94CAF"/>
                </a:solidFill>
                <a:latin typeface="Inconsolata Bold" pitchFamily="34" charset="0"/>
                <a:ea typeface="Inconsolata Bold" pitchFamily="34" charset="-122"/>
                <a:cs typeface="Inconsolata Bold" pitchFamily="34" charset="-120"/>
              </a:rPr>
              <a:t>Option A Drives Higher Open Rates Than Option B</a:t>
            </a:r>
            <a:endParaRPr lang="en-US" sz="3750" dirty="0"/>
          </a:p>
        </p:txBody>
      </p:sp>
      <p:sp>
        <p:nvSpPr>
          <p:cNvPr id="3" name="Text 1"/>
          <p:cNvSpPr/>
          <p:nvPr/>
        </p:nvSpPr>
        <p:spPr>
          <a:xfrm>
            <a:off x="793790" y="1987034"/>
            <a:ext cx="13042821"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Likelihood to Open (Column E):</a:t>
            </a:r>
            <a:endParaRPr lang="en-US" sz="1500" dirty="0"/>
          </a:p>
        </p:txBody>
      </p:sp>
      <p:sp>
        <p:nvSpPr>
          <p:cNvPr id="4" name="Shape 2"/>
          <p:cNvSpPr/>
          <p:nvPr/>
        </p:nvSpPr>
        <p:spPr>
          <a:xfrm>
            <a:off x="793790" y="2512219"/>
            <a:ext cx="13042821" cy="1988106"/>
          </a:xfrm>
          <a:prstGeom prst="roundRect">
            <a:avLst>
              <a:gd name="adj" fmla="val 1455"/>
            </a:avLst>
          </a:prstGeom>
          <a:noFill/>
          <a:ln w="7620">
            <a:solidFill>
              <a:srgbClr val="FFFFFF">
                <a:alpha val="24000"/>
              </a:srgbClr>
            </a:solidFill>
            <a:prstDash val="solid"/>
          </a:ln>
        </p:spPr>
        <p:txBody>
          <a:bodyPr/>
          <a:lstStyle/>
          <a:p>
            <a:endParaRPr lang="zh-CN" altLang="en-US"/>
          </a:p>
        </p:txBody>
      </p:sp>
      <p:sp>
        <p:nvSpPr>
          <p:cNvPr id="5" name="Shape 3"/>
          <p:cNvSpPr/>
          <p:nvPr/>
        </p:nvSpPr>
        <p:spPr>
          <a:xfrm>
            <a:off x="801410" y="2519839"/>
            <a:ext cx="13030081" cy="554831"/>
          </a:xfrm>
          <a:prstGeom prst="rect">
            <a:avLst/>
          </a:prstGeom>
          <a:solidFill>
            <a:srgbClr val="FFFFFF">
              <a:alpha val="4000"/>
            </a:srgbClr>
          </a:solidFill>
          <a:ln/>
        </p:spPr>
        <p:txBody>
          <a:bodyPr/>
          <a:lstStyle/>
          <a:p>
            <a:endParaRPr lang="zh-CN" altLang="en-US"/>
          </a:p>
        </p:txBody>
      </p:sp>
      <p:sp>
        <p:nvSpPr>
          <p:cNvPr id="6" name="Text 4"/>
          <p:cNvSpPr/>
          <p:nvPr/>
        </p:nvSpPr>
        <p:spPr>
          <a:xfrm>
            <a:off x="994767" y="2643068"/>
            <a:ext cx="178224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Metric</a:t>
            </a:r>
            <a:endParaRPr lang="en-US" sz="1500" dirty="0"/>
          </a:p>
        </p:txBody>
      </p:sp>
      <p:sp>
        <p:nvSpPr>
          <p:cNvPr id="7" name="Text 5"/>
          <p:cNvSpPr/>
          <p:nvPr/>
        </p:nvSpPr>
        <p:spPr>
          <a:xfrm>
            <a:off x="3170158" y="2643068"/>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Option A</a:t>
            </a:r>
            <a:endParaRPr lang="en-US" sz="1500" dirty="0"/>
          </a:p>
        </p:txBody>
      </p:sp>
      <p:sp>
        <p:nvSpPr>
          <p:cNvPr id="8" name="Text 6"/>
          <p:cNvSpPr/>
          <p:nvPr/>
        </p:nvSpPr>
        <p:spPr>
          <a:xfrm>
            <a:off x="5341739" y="2643068"/>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Option B</a:t>
            </a:r>
            <a:endParaRPr lang="en-US" sz="1500" dirty="0"/>
          </a:p>
        </p:txBody>
      </p:sp>
      <p:sp>
        <p:nvSpPr>
          <p:cNvPr id="9" name="Text 7"/>
          <p:cNvSpPr/>
          <p:nvPr/>
        </p:nvSpPr>
        <p:spPr>
          <a:xfrm>
            <a:off x="7513320" y="2643068"/>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T/Z-Statistic</a:t>
            </a:r>
            <a:endParaRPr lang="en-US" sz="1500" dirty="0"/>
          </a:p>
        </p:txBody>
      </p:sp>
      <p:sp>
        <p:nvSpPr>
          <p:cNvPr id="10" name="Text 8"/>
          <p:cNvSpPr/>
          <p:nvPr/>
        </p:nvSpPr>
        <p:spPr>
          <a:xfrm>
            <a:off x="9684901" y="2643068"/>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p-value</a:t>
            </a:r>
            <a:endParaRPr lang="en-US" sz="1500" dirty="0"/>
          </a:p>
        </p:txBody>
      </p:sp>
      <p:sp>
        <p:nvSpPr>
          <p:cNvPr id="11" name="Text 9"/>
          <p:cNvSpPr/>
          <p:nvPr/>
        </p:nvSpPr>
        <p:spPr>
          <a:xfrm>
            <a:off x="11856482" y="2643068"/>
            <a:ext cx="178224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Conclusion (α=0.05)</a:t>
            </a:r>
            <a:endParaRPr lang="en-US" sz="1500" dirty="0"/>
          </a:p>
        </p:txBody>
      </p:sp>
      <p:sp>
        <p:nvSpPr>
          <p:cNvPr id="12" name="Shape 10"/>
          <p:cNvSpPr/>
          <p:nvPr/>
        </p:nvSpPr>
        <p:spPr>
          <a:xfrm>
            <a:off x="801410" y="3074670"/>
            <a:ext cx="13030081" cy="554831"/>
          </a:xfrm>
          <a:prstGeom prst="rect">
            <a:avLst/>
          </a:prstGeom>
          <a:solidFill>
            <a:srgbClr val="000000">
              <a:alpha val="4000"/>
            </a:srgbClr>
          </a:solidFill>
          <a:ln/>
        </p:spPr>
        <p:txBody>
          <a:bodyPr/>
          <a:lstStyle/>
          <a:p>
            <a:endParaRPr lang="zh-CN" altLang="en-US"/>
          </a:p>
        </p:txBody>
      </p:sp>
      <p:sp>
        <p:nvSpPr>
          <p:cNvPr id="13" name="Text 11"/>
          <p:cNvSpPr/>
          <p:nvPr/>
        </p:nvSpPr>
        <p:spPr>
          <a:xfrm>
            <a:off x="994767" y="3197900"/>
            <a:ext cx="1782247" cy="308372"/>
          </a:xfrm>
          <a:prstGeom prst="rect">
            <a:avLst/>
          </a:prstGeom>
          <a:noFill/>
          <a:ln/>
        </p:spPr>
        <p:txBody>
          <a:bodyPr wrap="none" lIns="0" tIns="0" rIns="0" bIns="0" rtlCol="0" anchor="t"/>
          <a:lstStyle/>
          <a:p>
            <a:pPr marL="0" indent="0" algn="l">
              <a:lnSpc>
                <a:spcPts val="2400"/>
              </a:lnSpc>
              <a:buNone/>
            </a:pPr>
            <a:r>
              <a:rPr lang="en-US" sz="1500" b="1" dirty="0">
                <a:solidFill>
                  <a:srgbClr val="DAD1E6"/>
                </a:solidFill>
                <a:latin typeface="Fira Sans" pitchFamily="34" charset="0"/>
                <a:ea typeface="Fira Sans" pitchFamily="34" charset="-122"/>
                <a:cs typeface="Fira Sans" pitchFamily="34" charset="-120"/>
              </a:rPr>
              <a:t>Mean Score</a:t>
            </a:r>
            <a:endParaRPr lang="en-US" sz="1500" dirty="0"/>
          </a:p>
        </p:txBody>
      </p:sp>
      <p:sp>
        <p:nvSpPr>
          <p:cNvPr id="14" name="Text 12"/>
          <p:cNvSpPr/>
          <p:nvPr/>
        </p:nvSpPr>
        <p:spPr>
          <a:xfrm>
            <a:off x="3170158" y="3197900"/>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3.03</a:t>
            </a:r>
            <a:endParaRPr lang="en-US" sz="1500" dirty="0"/>
          </a:p>
        </p:txBody>
      </p:sp>
      <p:sp>
        <p:nvSpPr>
          <p:cNvPr id="15" name="Text 13"/>
          <p:cNvSpPr/>
          <p:nvPr/>
        </p:nvSpPr>
        <p:spPr>
          <a:xfrm>
            <a:off x="5341739" y="3197900"/>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2.75</a:t>
            </a:r>
            <a:endParaRPr lang="en-US" sz="1500" dirty="0"/>
          </a:p>
        </p:txBody>
      </p:sp>
      <p:sp>
        <p:nvSpPr>
          <p:cNvPr id="16" name="Text 14"/>
          <p:cNvSpPr/>
          <p:nvPr/>
        </p:nvSpPr>
        <p:spPr>
          <a:xfrm>
            <a:off x="7513320" y="3197900"/>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t=3.0913</a:t>
            </a:r>
            <a:endParaRPr lang="en-US" sz="1500" dirty="0"/>
          </a:p>
        </p:txBody>
      </p:sp>
      <p:sp>
        <p:nvSpPr>
          <p:cNvPr id="17" name="Text 15"/>
          <p:cNvSpPr/>
          <p:nvPr/>
        </p:nvSpPr>
        <p:spPr>
          <a:xfrm>
            <a:off x="9684901" y="3197900"/>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0.0020</a:t>
            </a:r>
            <a:endParaRPr lang="en-US" sz="1500" dirty="0"/>
          </a:p>
        </p:txBody>
      </p:sp>
      <p:sp>
        <p:nvSpPr>
          <p:cNvPr id="18" name="Text 16"/>
          <p:cNvSpPr/>
          <p:nvPr/>
        </p:nvSpPr>
        <p:spPr>
          <a:xfrm>
            <a:off x="11856482" y="3197900"/>
            <a:ext cx="1782247" cy="308372"/>
          </a:xfrm>
          <a:prstGeom prst="rect">
            <a:avLst/>
          </a:prstGeom>
          <a:noFill/>
          <a:ln/>
        </p:spPr>
        <p:txBody>
          <a:bodyPr wrap="none" lIns="0" tIns="0" rIns="0" bIns="0" rtlCol="0" anchor="t"/>
          <a:lstStyle/>
          <a:p>
            <a:pPr marL="0" indent="0" algn="l">
              <a:lnSpc>
                <a:spcPts val="2400"/>
              </a:lnSpc>
              <a:buNone/>
            </a:pPr>
            <a:r>
              <a:rPr lang="en-US" sz="1500" b="1" dirty="0">
                <a:solidFill>
                  <a:srgbClr val="DAD1E6"/>
                </a:solidFill>
                <a:latin typeface="Fira Sans" pitchFamily="34" charset="0"/>
                <a:ea typeface="Fira Sans" pitchFamily="34" charset="-122"/>
                <a:cs typeface="Fira Sans" pitchFamily="34" charset="-120"/>
              </a:rPr>
              <a:t>Significant</a:t>
            </a:r>
            <a:r>
              <a:rPr lang="en-US" sz="1500" dirty="0">
                <a:solidFill>
                  <a:srgbClr val="DAD1E6"/>
                </a:solidFill>
                <a:latin typeface="Fira Sans" pitchFamily="34" charset="0"/>
                <a:ea typeface="Fira Sans" pitchFamily="34" charset="-122"/>
                <a:cs typeface="Fira Sans" pitchFamily="34" charset="-120"/>
              </a:rPr>
              <a:t> (A &gt; B)</a:t>
            </a:r>
            <a:endParaRPr lang="en-US" sz="1500" dirty="0"/>
          </a:p>
        </p:txBody>
      </p:sp>
      <p:sp>
        <p:nvSpPr>
          <p:cNvPr id="19" name="Shape 17"/>
          <p:cNvSpPr/>
          <p:nvPr/>
        </p:nvSpPr>
        <p:spPr>
          <a:xfrm>
            <a:off x="801410" y="3629501"/>
            <a:ext cx="13030081" cy="863203"/>
          </a:xfrm>
          <a:prstGeom prst="rect">
            <a:avLst/>
          </a:prstGeom>
          <a:solidFill>
            <a:srgbClr val="FFFFFF">
              <a:alpha val="4000"/>
            </a:srgbClr>
          </a:solidFill>
          <a:ln/>
        </p:spPr>
        <p:txBody>
          <a:bodyPr/>
          <a:lstStyle/>
          <a:p>
            <a:endParaRPr lang="zh-CN" altLang="en-US"/>
          </a:p>
        </p:txBody>
      </p:sp>
      <p:sp>
        <p:nvSpPr>
          <p:cNvPr id="20" name="Text 18"/>
          <p:cNvSpPr/>
          <p:nvPr/>
        </p:nvSpPr>
        <p:spPr>
          <a:xfrm>
            <a:off x="994767" y="3752731"/>
            <a:ext cx="1782247" cy="616744"/>
          </a:xfrm>
          <a:prstGeom prst="rect">
            <a:avLst/>
          </a:prstGeom>
          <a:noFill/>
          <a:ln/>
        </p:spPr>
        <p:txBody>
          <a:bodyPr wrap="square" lIns="0" tIns="0" rIns="0" bIns="0" rtlCol="0" anchor="t"/>
          <a:lstStyle/>
          <a:p>
            <a:pPr marL="0" indent="0" algn="l">
              <a:lnSpc>
                <a:spcPts val="2400"/>
              </a:lnSpc>
              <a:buNone/>
            </a:pPr>
            <a:r>
              <a:rPr lang="en-US" sz="1500" b="1" dirty="0">
                <a:solidFill>
                  <a:srgbClr val="DAD1E6"/>
                </a:solidFill>
                <a:latin typeface="Fira Sans" pitchFamily="34" charset="0"/>
                <a:ea typeface="Fira Sans" pitchFamily="34" charset="-122"/>
                <a:cs typeface="Fira Sans" pitchFamily="34" charset="-120"/>
              </a:rPr>
              <a:t>High Response Proportion (4 or 5)</a:t>
            </a:r>
            <a:endParaRPr lang="en-US" sz="1500" dirty="0"/>
          </a:p>
        </p:txBody>
      </p:sp>
      <p:sp>
        <p:nvSpPr>
          <p:cNvPr id="21" name="Text 19"/>
          <p:cNvSpPr/>
          <p:nvPr/>
        </p:nvSpPr>
        <p:spPr>
          <a:xfrm>
            <a:off x="3170158" y="3752731"/>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42.00%</a:t>
            </a:r>
            <a:endParaRPr lang="en-US" sz="1500" dirty="0"/>
          </a:p>
        </p:txBody>
      </p:sp>
      <p:sp>
        <p:nvSpPr>
          <p:cNvPr id="22" name="Text 20"/>
          <p:cNvSpPr/>
          <p:nvPr/>
        </p:nvSpPr>
        <p:spPr>
          <a:xfrm>
            <a:off x="5341739" y="3752731"/>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33.40%</a:t>
            </a:r>
            <a:endParaRPr lang="en-US" sz="1500" dirty="0"/>
          </a:p>
        </p:txBody>
      </p:sp>
      <p:sp>
        <p:nvSpPr>
          <p:cNvPr id="23" name="Text 21"/>
          <p:cNvSpPr/>
          <p:nvPr/>
        </p:nvSpPr>
        <p:spPr>
          <a:xfrm>
            <a:off x="7513320" y="3752731"/>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z=2.8058</a:t>
            </a:r>
            <a:endParaRPr lang="en-US" sz="1500" dirty="0"/>
          </a:p>
        </p:txBody>
      </p:sp>
      <p:sp>
        <p:nvSpPr>
          <p:cNvPr id="24" name="Text 22"/>
          <p:cNvSpPr/>
          <p:nvPr/>
        </p:nvSpPr>
        <p:spPr>
          <a:xfrm>
            <a:off x="9684901" y="3752731"/>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0.0050</a:t>
            </a:r>
            <a:endParaRPr lang="en-US" sz="1500" dirty="0"/>
          </a:p>
        </p:txBody>
      </p:sp>
      <p:sp>
        <p:nvSpPr>
          <p:cNvPr id="25" name="Text 23"/>
          <p:cNvSpPr/>
          <p:nvPr/>
        </p:nvSpPr>
        <p:spPr>
          <a:xfrm>
            <a:off x="11856482" y="3752731"/>
            <a:ext cx="1782247" cy="308372"/>
          </a:xfrm>
          <a:prstGeom prst="rect">
            <a:avLst/>
          </a:prstGeom>
          <a:noFill/>
          <a:ln/>
        </p:spPr>
        <p:txBody>
          <a:bodyPr wrap="none" lIns="0" tIns="0" rIns="0" bIns="0" rtlCol="0" anchor="t"/>
          <a:lstStyle/>
          <a:p>
            <a:pPr marL="0" indent="0" algn="l">
              <a:lnSpc>
                <a:spcPts val="2400"/>
              </a:lnSpc>
              <a:buNone/>
            </a:pPr>
            <a:r>
              <a:rPr lang="en-US" sz="1500" b="1" dirty="0">
                <a:solidFill>
                  <a:srgbClr val="DAD1E6"/>
                </a:solidFill>
                <a:latin typeface="Fira Sans" pitchFamily="34" charset="0"/>
                <a:ea typeface="Fira Sans" pitchFamily="34" charset="-122"/>
                <a:cs typeface="Fira Sans" pitchFamily="34" charset="-120"/>
              </a:rPr>
              <a:t>Significant</a:t>
            </a:r>
            <a:r>
              <a:rPr lang="en-US" sz="1500" dirty="0">
                <a:solidFill>
                  <a:srgbClr val="DAD1E6"/>
                </a:solidFill>
                <a:latin typeface="Fira Sans" pitchFamily="34" charset="0"/>
                <a:ea typeface="Fira Sans" pitchFamily="34" charset="-122"/>
                <a:cs typeface="Fira Sans" pitchFamily="34" charset="-120"/>
              </a:rPr>
              <a:t> (A &gt; B)</a:t>
            </a:r>
            <a:endParaRPr lang="en-US" sz="1500" dirty="0"/>
          </a:p>
        </p:txBody>
      </p:sp>
      <p:sp>
        <p:nvSpPr>
          <p:cNvPr id="26" name="Text 24"/>
          <p:cNvSpPr/>
          <p:nvPr/>
        </p:nvSpPr>
        <p:spPr>
          <a:xfrm>
            <a:off x="793790" y="4717137"/>
            <a:ext cx="13042821"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Likelihood to Take Next Step (Column S):</a:t>
            </a:r>
            <a:endParaRPr lang="en-US" sz="1500" dirty="0"/>
          </a:p>
        </p:txBody>
      </p:sp>
      <p:sp>
        <p:nvSpPr>
          <p:cNvPr id="27" name="Shape 25"/>
          <p:cNvSpPr/>
          <p:nvPr/>
        </p:nvSpPr>
        <p:spPr>
          <a:xfrm>
            <a:off x="793790" y="5242322"/>
            <a:ext cx="13042821" cy="1988106"/>
          </a:xfrm>
          <a:prstGeom prst="roundRect">
            <a:avLst>
              <a:gd name="adj" fmla="val 1455"/>
            </a:avLst>
          </a:prstGeom>
          <a:noFill/>
          <a:ln w="7620">
            <a:solidFill>
              <a:srgbClr val="FFFFFF">
                <a:alpha val="24000"/>
              </a:srgbClr>
            </a:solidFill>
            <a:prstDash val="solid"/>
          </a:ln>
        </p:spPr>
        <p:txBody>
          <a:bodyPr/>
          <a:lstStyle/>
          <a:p>
            <a:endParaRPr lang="zh-CN" altLang="en-US"/>
          </a:p>
        </p:txBody>
      </p:sp>
      <p:sp>
        <p:nvSpPr>
          <p:cNvPr id="28" name="Shape 26"/>
          <p:cNvSpPr/>
          <p:nvPr/>
        </p:nvSpPr>
        <p:spPr>
          <a:xfrm>
            <a:off x="801410" y="5249942"/>
            <a:ext cx="13030081" cy="554831"/>
          </a:xfrm>
          <a:prstGeom prst="rect">
            <a:avLst/>
          </a:prstGeom>
          <a:solidFill>
            <a:srgbClr val="FFFFFF">
              <a:alpha val="4000"/>
            </a:srgbClr>
          </a:solidFill>
          <a:ln/>
        </p:spPr>
        <p:txBody>
          <a:bodyPr/>
          <a:lstStyle/>
          <a:p>
            <a:endParaRPr lang="zh-CN" altLang="en-US"/>
          </a:p>
        </p:txBody>
      </p:sp>
      <p:sp>
        <p:nvSpPr>
          <p:cNvPr id="29" name="Text 27"/>
          <p:cNvSpPr/>
          <p:nvPr/>
        </p:nvSpPr>
        <p:spPr>
          <a:xfrm>
            <a:off x="994767" y="5373172"/>
            <a:ext cx="178224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Metric</a:t>
            </a:r>
            <a:endParaRPr lang="en-US" sz="1500" dirty="0"/>
          </a:p>
        </p:txBody>
      </p:sp>
      <p:sp>
        <p:nvSpPr>
          <p:cNvPr id="30" name="Text 28"/>
          <p:cNvSpPr/>
          <p:nvPr/>
        </p:nvSpPr>
        <p:spPr>
          <a:xfrm>
            <a:off x="3170158" y="5373172"/>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Option A</a:t>
            </a:r>
            <a:endParaRPr lang="en-US" sz="1500" dirty="0"/>
          </a:p>
        </p:txBody>
      </p:sp>
      <p:sp>
        <p:nvSpPr>
          <p:cNvPr id="31" name="Text 29"/>
          <p:cNvSpPr/>
          <p:nvPr/>
        </p:nvSpPr>
        <p:spPr>
          <a:xfrm>
            <a:off x="5341739" y="5373172"/>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Option B</a:t>
            </a:r>
            <a:endParaRPr lang="en-US" sz="1500" dirty="0"/>
          </a:p>
        </p:txBody>
      </p:sp>
      <p:sp>
        <p:nvSpPr>
          <p:cNvPr id="32" name="Text 30"/>
          <p:cNvSpPr/>
          <p:nvPr/>
        </p:nvSpPr>
        <p:spPr>
          <a:xfrm>
            <a:off x="7513320" y="5373172"/>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T/Z-Statistic</a:t>
            </a:r>
            <a:endParaRPr lang="en-US" sz="1500" dirty="0"/>
          </a:p>
        </p:txBody>
      </p:sp>
      <p:sp>
        <p:nvSpPr>
          <p:cNvPr id="33" name="Text 31"/>
          <p:cNvSpPr/>
          <p:nvPr/>
        </p:nvSpPr>
        <p:spPr>
          <a:xfrm>
            <a:off x="9684901" y="5373172"/>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p-value</a:t>
            </a:r>
            <a:endParaRPr lang="en-US" sz="1500" dirty="0"/>
          </a:p>
        </p:txBody>
      </p:sp>
      <p:sp>
        <p:nvSpPr>
          <p:cNvPr id="34" name="Text 32"/>
          <p:cNvSpPr/>
          <p:nvPr/>
        </p:nvSpPr>
        <p:spPr>
          <a:xfrm>
            <a:off x="11856482" y="5373172"/>
            <a:ext cx="178224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Conclusion (α=0.05)</a:t>
            </a:r>
            <a:endParaRPr lang="en-US" sz="1500" dirty="0"/>
          </a:p>
        </p:txBody>
      </p:sp>
      <p:sp>
        <p:nvSpPr>
          <p:cNvPr id="35" name="Shape 33"/>
          <p:cNvSpPr/>
          <p:nvPr/>
        </p:nvSpPr>
        <p:spPr>
          <a:xfrm>
            <a:off x="801410" y="5804773"/>
            <a:ext cx="13030081" cy="554831"/>
          </a:xfrm>
          <a:prstGeom prst="rect">
            <a:avLst/>
          </a:prstGeom>
          <a:solidFill>
            <a:srgbClr val="000000">
              <a:alpha val="4000"/>
            </a:srgbClr>
          </a:solidFill>
          <a:ln/>
        </p:spPr>
        <p:txBody>
          <a:bodyPr/>
          <a:lstStyle/>
          <a:p>
            <a:endParaRPr lang="zh-CN" altLang="en-US"/>
          </a:p>
        </p:txBody>
      </p:sp>
      <p:sp>
        <p:nvSpPr>
          <p:cNvPr id="36" name="Text 34"/>
          <p:cNvSpPr/>
          <p:nvPr/>
        </p:nvSpPr>
        <p:spPr>
          <a:xfrm>
            <a:off x="994767" y="5928003"/>
            <a:ext cx="1782247" cy="308372"/>
          </a:xfrm>
          <a:prstGeom prst="rect">
            <a:avLst/>
          </a:prstGeom>
          <a:noFill/>
          <a:ln/>
        </p:spPr>
        <p:txBody>
          <a:bodyPr wrap="none" lIns="0" tIns="0" rIns="0" bIns="0" rtlCol="0" anchor="t"/>
          <a:lstStyle/>
          <a:p>
            <a:pPr marL="0" indent="0" algn="l">
              <a:lnSpc>
                <a:spcPts val="2400"/>
              </a:lnSpc>
              <a:buNone/>
            </a:pPr>
            <a:r>
              <a:rPr lang="en-US" sz="1500" b="1" dirty="0">
                <a:solidFill>
                  <a:srgbClr val="DAD1E6"/>
                </a:solidFill>
                <a:latin typeface="Fira Sans" pitchFamily="34" charset="0"/>
                <a:ea typeface="Fira Sans" pitchFamily="34" charset="-122"/>
                <a:cs typeface="Fira Sans" pitchFamily="34" charset="-120"/>
              </a:rPr>
              <a:t>Mean Score</a:t>
            </a:r>
            <a:endParaRPr lang="en-US" sz="1500" dirty="0"/>
          </a:p>
        </p:txBody>
      </p:sp>
      <p:sp>
        <p:nvSpPr>
          <p:cNvPr id="37" name="Text 35"/>
          <p:cNvSpPr/>
          <p:nvPr/>
        </p:nvSpPr>
        <p:spPr>
          <a:xfrm>
            <a:off x="3170158" y="5928003"/>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3.06</a:t>
            </a:r>
            <a:endParaRPr lang="en-US" sz="1500" dirty="0"/>
          </a:p>
        </p:txBody>
      </p:sp>
      <p:sp>
        <p:nvSpPr>
          <p:cNvPr id="38" name="Text 36"/>
          <p:cNvSpPr/>
          <p:nvPr/>
        </p:nvSpPr>
        <p:spPr>
          <a:xfrm>
            <a:off x="5341739" y="5928003"/>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3.06</a:t>
            </a:r>
            <a:endParaRPr lang="en-US" sz="1500" dirty="0"/>
          </a:p>
        </p:txBody>
      </p:sp>
      <p:sp>
        <p:nvSpPr>
          <p:cNvPr id="39" name="Text 37"/>
          <p:cNvSpPr/>
          <p:nvPr/>
        </p:nvSpPr>
        <p:spPr>
          <a:xfrm>
            <a:off x="7513320" y="5928003"/>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t=0.0000</a:t>
            </a:r>
            <a:endParaRPr lang="en-US" sz="1500" dirty="0"/>
          </a:p>
        </p:txBody>
      </p:sp>
      <p:sp>
        <p:nvSpPr>
          <p:cNvPr id="40" name="Text 38"/>
          <p:cNvSpPr/>
          <p:nvPr/>
        </p:nvSpPr>
        <p:spPr>
          <a:xfrm>
            <a:off x="9684901" y="5928003"/>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1.0000</a:t>
            </a:r>
            <a:endParaRPr lang="en-US" sz="1500" dirty="0"/>
          </a:p>
        </p:txBody>
      </p:sp>
      <p:sp>
        <p:nvSpPr>
          <p:cNvPr id="41" name="Text 39"/>
          <p:cNvSpPr/>
          <p:nvPr/>
        </p:nvSpPr>
        <p:spPr>
          <a:xfrm>
            <a:off x="11856482" y="5928003"/>
            <a:ext cx="178224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Not Significant</a:t>
            </a:r>
            <a:endParaRPr lang="en-US" sz="1500" dirty="0"/>
          </a:p>
        </p:txBody>
      </p:sp>
      <p:sp>
        <p:nvSpPr>
          <p:cNvPr id="42" name="Shape 40"/>
          <p:cNvSpPr/>
          <p:nvPr/>
        </p:nvSpPr>
        <p:spPr>
          <a:xfrm>
            <a:off x="801410" y="6359604"/>
            <a:ext cx="13030081" cy="863203"/>
          </a:xfrm>
          <a:prstGeom prst="rect">
            <a:avLst/>
          </a:prstGeom>
          <a:solidFill>
            <a:srgbClr val="FFFFFF">
              <a:alpha val="4000"/>
            </a:srgbClr>
          </a:solidFill>
          <a:ln/>
        </p:spPr>
        <p:txBody>
          <a:bodyPr/>
          <a:lstStyle/>
          <a:p>
            <a:endParaRPr lang="zh-CN" altLang="en-US"/>
          </a:p>
        </p:txBody>
      </p:sp>
      <p:sp>
        <p:nvSpPr>
          <p:cNvPr id="43" name="Text 41"/>
          <p:cNvSpPr/>
          <p:nvPr/>
        </p:nvSpPr>
        <p:spPr>
          <a:xfrm>
            <a:off x="994767" y="6482834"/>
            <a:ext cx="1782247" cy="616744"/>
          </a:xfrm>
          <a:prstGeom prst="rect">
            <a:avLst/>
          </a:prstGeom>
          <a:noFill/>
          <a:ln/>
        </p:spPr>
        <p:txBody>
          <a:bodyPr wrap="square" lIns="0" tIns="0" rIns="0" bIns="0" rtlCol="0" anchor="t"/>
          <a:lstStyle/>
          <a:p>
            <a:pPr marL="0" indent="0" algn="l">
              <a:lnSpc>
                <a:spcPts val="2400"/>
              </a:lnSpc>
              <a:buNone/>
            </a:pPr>
            <a:r>
              <a:rPr lang="en-US" sz="1500" b="1" dirty="0">
                <a:solidFill>
                  <a:srgbClr val="DAD1E6"/>
                </a:solidFill>
                <a:latin typeface="Fira Sans" pitchFamily="34" charset="0"/>
                <a:ea typeface="Fira Sans" pitchFamily="34" charset="-122"/>
                <a:cs typeface="Fira Sans" pitchFamily="34" charset="-120"/>
              </a:rPr>
              <a:t>High Response Proportion (4 or 5)</a:t>
            </a:r>
            <a:endParaRPr lang="en-US" sz="1500" dirty="0"/>
          </a:p>
        </p:txBody>
      </p:sp>
      <p:sp>
        <p:nvSpPr>
          <p:cNvPr id="44" name="Text 42"/>
          <p:cNvSpPr/>
          <p:nvPr/>
        </p:nvSpPr>
        <p:spPr>
          <a:xfrm>
            <a:off x="3170158" y="6482834"/>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44.4%</a:t>
            </a:r>
            <a:endParaRPr lang="en-US" sz="1500" dirty="0"/>
          </a:p>
        </p:txBody>
      </p:sp>
      <p:sp>
        <p:nvSpPr>
          <p:cNvPr id="45" name="Text 43"/>
          <p:cNvSpPr/>
          <p:nvPr/>
        </p:nvSpPr>
        <p:spPr>
          <a:xfrm>
            <a:off x="5341739" y="6482834"/>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44.4%</a:t>
            </a:r>
            <a:endParaRPr lang="en-US" sz="1500" dirty="0"/>
          </a:p>
        </p:txBody>
      </p:sp>
      <p:sp>
        <p:nvSpPr>
          <p:cNvPr id="46" name="Text 44"/>
          <p:cNvSpPr/>
          <p:nvPr/>
        </p:nvSpPr>
        <p:spPr>
          <a:xfrm>
            <a:off x="7513320" y="6482834"/>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z=0.0000</a:t>
            </a:r>
            <a:endParaRPr lang="en-US" sz="1500" dirty="0"/>
          </a:p>
        </p:txBody>
      </p:sp>
      <p:sp>
        <p:nvSpPr>
          <p:cNvPr id="47" name="Text 45"/>
          <p:cNvSpPr/>
          <p:nvPr/>
        </p:nvSpPr>
        <p:spPr>
          <a:xfrm>
            <a:off x="9684901" y="6482834"/>
            <a:ext cx="177843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1.0000</a:t>
            </a:r>
            <a:endParaRPr lang="en-US" sz="1500" dirty="0"/>
          </a:p>
        </p:txBody>
      </p:sp>
      <p:sp>
        <p:nvSpPr>
          <p:cNvPr id="48" name="Text 46"/>
          <p:cNvSpPr/>
          <p:nvPr/>
        </p:nvSpPr>
        <p:spPr>
          <a:xfrm>
            <a:off x="11856482" y="6482834"/>
            <a:ext cx="1782247" cy="308372"/>
          </a:xfrm>
          <a:prstGeom prst="rect">
            <a:avLst/>
          </a:prstGeom>
          <a:noFill/>
          <a:ln/>
        </p:spPr>
        <p:txBody>
          <a:bodyPr wrap="non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Not Significant</a:t>
            </a:r>
            <a:endParaRPr lang="en-US" sz="1500" dirty="0"/>
          </a:p>
        </p:txBody>
      </p:sp>
      <p:pic>
        <p:nvPicPr>
          <p:cNvPr id="49" name="图片 48">
            <a:extLst>
              <a:ext uri="{FF2B5EF4-FFF2-40B4-BE49-F238E27FC236}">
                <a16:creationId xmlns:a16="http://schemas.microsoft.com/office/drawing/2014/main" id="{497A83C2-3B76-2A1B-3C06-F3653DDE75F2}"/>
              </a:ext>
            </a:extLst>
          </p:cNvPr>
          <p:cNvPicPr>
            <a:picLocks noChangeAspect="1"/>
          </p:cNvPicPr>
          <p:nvPr/>
        </p:nvPicPr>
        <p:blipFill>
          <a:blip r:embed="rId3"/>
          <a:stretch>
            <a:fillRect/>
          </a:stretch>
        </p:blipFill>
        <p:spPr>
          <a:xfrm>
            <a:off x="12878381" y="7683818"/>
            <a:ext cx="1664811" cy="5192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5FEEF-2556-A9D8-74C0-F626AA0A5F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B54AFB-058C-C641-C51F-944E5CF39D45}"/>
              </a:ext>
            </a:extLst>
          </p:cNvPr>
          <p:cNvSpPr/>
          <p:nvPr/>
        </p:nvSpPr>
        <p:spPr>
          <a:xfrm>
            <a:off x="788670" y="619720"/>
            <a:ext cx="8111025" cy="598527"/>
          </a:xfrm>
          <a:prstGeom prst="rect">
            <a:avLst/>
          </a:prstGeom>
          <a:noFill/>
          <a:ln/>
        </p:spPr>
        <p:txBody>
          <a:bodyPr wrap="none" lIns="0" tIns="0" rIns="0" bIns="0" rtlCol="0" anchor="t"/>
          <a:lstStyle/>
          <a:p>
            <a:pPr marL="0" indent="0" algn="l">
              <a:lnSpc>
                <a:spcPts val="4700"/>
              </a:lnSpc>
              <a:buNone/>
            </a:pPr>
            <a:r>
              <a:rPr lang="en-US" altLang="zh-CN" sz="3750" b="1" dirty="0">
                <a:solidFill>
                  <a:srgbClr val="F94CAF"/>
                </a:solidFill>
                <a:latin typeface="Inconsolata Bold" pitchFamily="34" charset="0"/>
                <a:ea typeface="Inconsolata Bold" pitchFamily="34" charset="-122"/>
              </a:rPr>
              <a:t>Overall Findings</a:t>
            </a:r>
            <a:r>
              <a:rPr lang="zh-CN" altLang="en-US" sz="3750" b="1" dirty="0">
                <a:solidFill>
                  <a:srgbClr val="F94CAF"/>
                </a:solidFill>
                <a:latin typeface="Inconsolata Bold" pitchFamily="34" charset="0"/>
                <a:ea typeface="Inconsolata Bold" pitchFamily="34" charset="-122"/>
              </a:rPr>
              <a:t>（</a:t>
            </a:r>
            <a:r>
              <a:rPr lang="en-US" altLang="zh-CN" sz="3750" b="1" dirty="0">
                <a:solidFill>
                  <a:srgbClr val="F94CAF"/>
                </a:solidFill>
                <a:latin typeface="Inconsolata Bold" pitchFamily="34" charset="0"/>
                <a:ea typeface="Inconsolata Bold" pitchFamily="34" charset="-122"/>
              </a:rPr>
              <a:t>By Column E</a:t>
            </a:r>
            <a:r>
              <a:rPr lang="zh-CN" altLang="en-US" sz="3750" b="1" dirty="0">
                <a:solidFill>
                  <a:srgbClr val="F94CAF"/>
                </a:solidFill>
                <a:latin typeface="Inconsolata Bold" pitchFamily="34" charset="0"/>
                <a:ea typeface="Inconsolata Bold" pitchFamily="34" charset="-122"/>
              </a:rPr>
              <a:t>）</a:t>
            </a:r>
            <a:endParaRPr lang="en-US" sz="3750" dirty="0"/>
          </a:p>
        </p:txBody>
      </p:sp>
      <p:sp>
        <p:nvSpPr>
          <p:cNvPr id="5" name="Text 1">
            <a:extLst>
              <a:ext uri="{FF2B5EF4-FFF2-40B4-BE49-F238E27FC236}">
                <a16:creationId xmlns:a16="http://schemas.microsoft.com/office/drawing/2014/main" id="{766722D9-C50F-64EF-F342-FDB99DEF5EB6}"/>
              </a:ext>
            </a:extLst>
          </p:cNvPr>
          <p:cNvSpPr/>
          <p:nvPr/>
        </p:nvSpPr>
        <p:spPr>
          <a:xfrm>
            <a:off x="7747969" y="1619069"/>
            <a:ext cx="6088642" cy="3806729"/>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Option A shows a clear advantage in attracting attention and encouraging recipients to open the mailer.</a:t>
            </a:r>
          </a:p>
          <a:p>
            <a:pPr marL="0" indent="0" algn="l">
              <a:lnSpc>
                <a:spcPts val="2850"/>
              </a:lnSpc>
              <a:buNone/>
            </a:pPr>
            <a:endParaRPr lang="en-US" sz="1750" dirty="0">
              <a:solidFill>
                <a:srgbClr val="DAD1E6"/>
              </a:solidFill>
              <a:latin typeface="Fira Sans" pitchFamily="34" charset="0"/>
              <a:ea typeface="Fira Sans" pitchFamily="34" charset="-122"/>
              <a:cs typeface="Fira Sans" pitchFamily="34" charset="-120"/>
            </a:endParaRPr>
          </a:p>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Respondents perceived it as more appealing and relevant at first glance. In contrast, both concepts perform similarly when it comes to motivating the next step, such as calling or visiting the website. </a:t>
            </a:r>
          </a:p>
          <a:p>
            <a:pPr marL="0" indent="0" algn="l">
              <a:lnSpc>
                <a:spcPts val="2850"/>
              </a:lnSpc>
              <a:buNone/>
            </a:pPr>
            <a:endParaRPr lang="en-US" sz="1750" dirty="0">
              <a:solidFill>
                <a:srgbClr val="DAD1E6"/>
              </a:solidFill>
              <a:latin typeface="Fira Sans" pitchFamily="34" charset="0"/>
              <a:ea typeface="Fira Sans" pitchFamily="34" charset="-122"/>
              <a:cs typeface="Fira Sans" pitchFamily="34" charset="-120"/>
            </a:endParaRPr>
          </a:p>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The main difference lies in first impressions rather than content persuasion.</a:t>
            </a:r>
            <a:endParaRPr lang="en-US" sz="1750" dirty="0">
              <a:solidFill>
                <a:srgbClr val="DAD1E6"/>
              </a:solidFill>
              <a:latin typeface="Fira Sans" pitchFamily="34" charset="0"/>
            </a:endParaRPr>
          </a:p>
          <a:p>
            <a:pPr marL="0" indent="0" algn="l">
              <a:lnSpc>
                <a:spcPts val="2850"/>
              </a:lnSpc>
              <a:buNone/>
            </a:pPr>
            <a:endParaRPr lang="en-US" sz="1750" dirty="0"/>
          </a:p>
        </p:txBody>
      </p:sp>
      <p:pic>
        <p:nvPicPr>
          <p:cNvPr id="7" name="图片 6" descr="图表, 条形图&#10;&#10;AI 生成的内容可能不正确。">
            <a:extLst>
              <a:ext uri="{FF2B5EF4-FFF2-40B4-BE49-F238E27FC236}">
                <a16:creationId xmlns:a16="http://schemas.microsoft.com/office/drawing/2014/main" id="{72FD6707-BE0B-A58D-4B33-2F16CD827855}"/>
              </a:ext>
            </a:extLst>
          </p:cNvPr>
          <p:cNvPicPr>
            <a:picLocks noChangeAspect="1"/>
          </p:cNvPicPr>
          <p:nvPr/>
        </p:nvPicPr>
        <p:blipFill>
          <a:blip r:embed="rId3"/>
          <a:stretch>
            <a:fillRect/>
          </a:stretch>
        </p:blipFill>
        <p:spPr>
          <a:xfrm>
            <a:off x="799765" y="1619069"/>
            <a:ext cx="6515435" cy="5131064"/>
          </a:xfrm>
          <a:prstGeom prst="rect">
            <a:avLst/>
          </a:prstGeom>
        </p:spPr>
      </p:pic>
      <p:pic>
        <p:nvPicPr>
          <p:cNvPr id="8" name="图片 7">
            <a:extLst>
              <a:ext uri="{FF2B5EF4-FFF2-40B4-BE49-F238E27FC236}">
                <a16:creationId xmlns:a16="http://schemas.microsoft.com/office/drawing/2014/main" id="{E66E90D6-13A3-4289-2F64-2F9F07652FCD}"/>
              </a:ext>
            </a:extLst>
          </p:cNvPr>
          <p:cNvPicPr>
            <a:picLocks noChangeAspect="1"/>
          </p:cNvPicPr>
          <p:nvPr/>
        </p:nvPicPr>
        <p:blipFill>
          <a:blip r:embed="rId4"/>
          <a:stretch>
            <a:fillRect/>
          </a:stretch>
        </p:blipFill>
        <p:spPr>
          <a:xfrm>
            <a:off x="12878381" y="7683818"/>
            <a:ext cx="1664811" cy="519262"/>
          </a:xfrm>
          <a:prstGeom prst="rect">
            <a:avLst/>
          </a:prstGeom>
        </p:spPr>
      </p:pic>
    </p:spTree>
    <p:extLst>
      <p:ext uri="{BB962C8B-B14F-4D97-AF65-F5344CB8AC3E}">
        <p14:creationId xmlns:p14="http://schemas.microsoft.com/office/powerpoint/2010/main" val="4037107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CF734-F8A3-E585-3DC1-9A570A976FC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77D1BB-0A62-8936-30D0-0C42EA9259F9}"/>
              </a:ext>
            </a:extLst>
          </p:cNvPr>
          <p:cNvSpPr/>
          <p:nvPr/>
        </p:nvSpPr>
        <p:spPr>
          <a:xfrm>
            <a:off x="788670" y="619720"/>
            <a:ext cx="8446072" cy="598527"/>
          </a:xfrm>
          <a:prstGeom prst="rect">
            <a:avLst/>
          </a:prstGeom>
          <a:noFill/>
          <a:ln/>
        </p:spPr>
        <p:txBody>
          <a:bodyPr wrap="none" lIns="0" tIns="0" rIns="0" bIns="0" rtlCol="0" anchor="t"/>
          <a:lstStyle/>
          <a:p>
            <a:pPr marL="0" indent="0" algn="l">
              <a:lnSpc>
                <a:spcPts val="4700"/>
              </a:lnSpc>
              <a:buNone/>
            </a:pPr>
            <a:r>
              <a:rPr lang="en-US" altLang="zh-CN" sz="3750" b="1" dirty="0">
                <a:solidFill>
                  <a:srgbClr val="F94CAF"/>
                </a:solidFill>
                <a:latin typeface="Inconsolata Bold" pitchFamily="34" charset="0"/>
                <a:ea typeface="Inconsolata Bold" pitchFamily="34" charset="-122"/>
              </a:rPr>
              <a:t>Behavioral Funnel</a:t>
            </a:r>
            <a:r>
              <a:rPr lang="zh-CN" altLang="en-US" sz="3750" b="1" dirty="0">
                <a:solidFill>
                  <a:srgbClr val="F94CAF"/>
                </a:solidFill>
                <a:latin typeface="Inconsolata Bold" pitchFamily="34" charset="0"/>
                <a:ea typeface="Inconsolata Bold" pitchFamily="34" charset="-122"/>
              </a:rPr>
              <a:t>（</a:t>
            </a:r>
            <a:r>
              <a:rPr lang="en-US" altLang="zh-CN" sz="3750" b="1" dirty="0">
                <a:solidFill>
                  <a:srgbClr val="F94CAF"/>
                </a:solidFill>
                <a:latin typeface="Inconsolata Bold" pitchFamily="34" charset="0"/>
                <a:ea typeface="Inconsolata Bold" pitchFamily="34" charset="-122"/>
              </a:rPr>
              <a:t>By Column S</a:t>
            </a:r>
            <a:r>
              <a:rPr lang="zh-CN" altLang="en-US" sz="3750" b="1" dirty="0">
                <a:solidFill>
                  <a:srgbClr val="F94CAF"/>
                </a:solidFill>
                <a:latin typeface="Inconsolata Bold" pitchFamily="34" charset="0"/>
                <a:ea typeface="Inconsolata Bold" pitchFamily="34" charset="-122"/>
              </a:rPr>
              <a:t>）</a:t>
            </a:r>
            <a:endParaRPr lang="en-US" sz="3750" dirty="0"/>
          </a:p>
        </p:txBody>
      </p:sp>
      <p:pic>
        <p:nvPicPr>
          <p:cNvPr id="6" name="图片 5" descr="图表, 条形图&#10;&#10;AI 生成的内容可能不正确。">
            <a:extLst>
              <a:ext uri="{FF2B5EF4-FFF2-40B4-BE49-F238E27FC236}">
                <a16:creationId xmlns:a16="http://schemas.microsoft.com/office/drawing/2014/main" id="{F7296D45-A0A0-26F2-8707-06876E652621}"/>
              </a:ext>
            </a:extLst>
          </p:cNvPr>
          <p:cNvPicPr>
            <a:picLocks noChangeAspect="1"/>
          </p:cNvPicPr>
          <p:nvPr/>
        </p:nvPicPr>
        <p:blipFill>
          <a:blip r:embed="rId3"/>
          <a:stretch>
            <a:fillRect/>
          </a:stretch>
        </p:blipFill>
        <p:spPr>
          <a:xfrm>
            <a:off x="788670" y="1612089"/>
            <a:ext cx="6515435" cy="5131064"/>
          </a:xfrm>
          <a:prstGeom prst="rect">
            <a:avLst/>
          </a:prstGeom>
        </p:spPr>
      </p:pic>
      <p:sp>
        <p:nvSpPr>
          <p:cNvPr id="7" name="Text 1">
            <a:extLst>
              <a:ext uri="{FF2B5EF4-FFF2-40B4-BE49-F238E27FC236}">
                <a16:creationId xmlns:a16="http://schemas.microsoft.com/office/drawing/2014/main" id="{2EF95E5F-0F73-C76E-42E1-DAA660EA70D3}"/>
              </a:ext>
            </a:extLst>
          </p:cNvPr>
          <p:cNvSpPr/>
          <p:nvPr/>
        </p:nvSpPr>
        <p:spPr>
          <a:xfrm>
            <a:off x="7747969" y="1619069"/>
            <a:ext cx="6088642" cy="3806729"/>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The results reveal a clear gap between attention and action. Option A effectively encourages recipients to open the mail, but both ads perform similarly once the content is read.</a:t>
            </a:r>
          </a:p>
          <a:p>
            <a:pPr marL="0" indent="0" algn="l">
              <a:lnSpc>
                <a:spcPts val="2850"/>
              </a:lnSpc>
              <a:buNone/>
            </a:pPr>
            <a:endParaRPr lang="en-US" sz="1750" dirty="0">
              <a:solidFill>
                <a:srgbClr val="DAD1E6"/>
              </a:solidFill>
              <a:latin typeface="Fira Sans" pitchFamily="34" charset="0"/>
              <a:ea typeface="Fira Sans" pitchFamily="34" charset="-122"/>
              <a:cs typeface="Fira Sans" pitchFamily="34" charset="-120"/>
            </a:endParaRPr>
          </a:p>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This suggests that improving the message clarity, benefits communication, and call-to-action could increase overall conversion after initial engagement.</a:t>
            </a:r>
            <a:endParaRPr lang="en-US" sz="1750" dirty="0"/>
          </a:p>
        </p:txBody>
      </p:sp>
      <p:pic>
        <p:nvPicPr>
          <p:cNvPr id="8" name="图片 7">
            <a:extLst>
              <a:ext uri="{FF2B5EF4-FFF2-40B4-BE49-F238E27FC236}">
                <a16:creationId xmlns:a16="http://schemas.microsoft.com/office/drawing/2014/main" id="{E909E2E8-0983-0675-B9FA-0465D26ED1A1}"/>
              </a:ext>
            </a:extLst>
          </p:cNvPr>
          <p:cNvPicPr>
            <a:picLocks noChangeAspect="1"/>
          </p:cNvPicPr>
          <p:nvPr/>
        </p:nvPicPr>
        <p:blipFill>
          <a:blip r:embed="rId4"/>
          <a:stretch>
            <a:fillRect/>
          </a:stretch>
        </p:blipFill>
        <p:spPr>
          <a:xfrm>
            <a:off x="12878381" y="7683818"/>
            <a:ext cx="1664811" cy="519262"/>
          </a:xfrm>
          <a:prstGeom prst="rect">
            <a:avLst/>
          </a:prstGeom>
        </p:spPr>
      </p:pic>
    </p:spTree>
    <p:extLst>
      <p:ext uri="{BB962C8B-B14F-4D97-AF65-F5344CB8AC3E}">
        <p14:creationId xmlns:p14="http://schemas.microsoft.com/office/powerpoint/2010/main" val="340684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87956"/>
            <a:ext cx="10657523" cy="566976"/>
          </a:xfrm>
          <a:prstGeom prst="rect">
            <a:avLst/>
          </a:prstGeom>
          <a:noFill/>
          <a:ln/>
        </p:spPr>
        <p:txBody>
          <a:bodyPr wrap="none" lIns="0" tIns="0" rIns="0" bIns="0" rtlCol="0" anchor="t"/>
          <a:lstStyle/>
          <a:p>
            <a:pPr marL="0" indent="0" algn="l">
              <a:lnSpc>
                <a:spcPts val="4450"/>
              </a:lnSpc>
              <a:buNone/>
            </a:pPr>
            <a:r>
              <a:rPr lang="en-US" sz="3550" b="1" dirty="0">
                <a:solidFill>
                  <a:srgbClr val="F94CAF"/>
                </a:solidFill>
                <a:latin typeface="Inconsolata Bold" pitchFamily="34" charset="0"/>
                <a:ea typeface="Inconsolata Bold" pitchFamily="34" charset="-122"/>
                <a:cs typeface="Inconsolata Bold" pitchFamily="34" charset="-120"/>
              </a:rPr>
              <a:t>Subgroup Analysis: Household Income Differences</a:t>
            </a:r>
            <a:endParaRPr lang="en-US" sz="3550" dirty="0"/>
          </a:p>
        </p:txBody>
      </p:sp>
      <p:sp>
        <p:nvSpPr>
          <p:cNvPr id="3" name="Text 1"/>
          <p:cNvSpPr/>
          <p:nvPr/>
        </p:nvSpPr>
        <p:spPr>
          <a:xfrm>
            <a:off x="793790" y="1717834"/>
            <a:ext cx="13042821" cy="580549"/>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The advantage of Option A for "Likelihood to Open" is strongest and most statistically significant for respondents in the mid-to-high income bracket of </a:t>
            </a:r>
            <a:r>
              <a:rPr lang="en-US" sz="1400" b="1" dirty="0">
                <a:solidFill>
                  <a:srgbClr val="DAD1E6"/>
                </a:solidFill>
                <a:latin typeface="Fira Sans" pitchFamily="34" charset="0"/>
                <a:ea typeface="Fira Sans" pitchFamily="34" charset="-122"/>
                <a:cs typeface="Fira Sans" pitchFamily="34" charset="-120"/>
              </a:rPr>
              <a:t>$75,000-$99,999</a:t>
            </a:r>
            <a:r>
              <a:rPr lang="en-US" sz="1400" dirty="0">
                <a:solidFill>
                  <a:srgbClr val="DAD1E6"/>
                </a:solidFill>
                <a:latin typeface="Fira Sans" pitchFamily="34" charset="0"/>
                <a:ea typeface="Fira Sans" pitchFamily="34" charset="-122"/>
                <a:cs typeface="Fira Sans" pitchFamily="34" charset="-120"/>
              </a:rPr>
              <a:t>.</a:t>
            </a:r>
            <a:endParaRPr lang="en-US" sz="1400" dirty="0"/>
          </a:p>
        </p:txBody>
      </p:sp>
      <p:sp>
        <p:nvSpPr>
          <p:cNvPr id="4" name="Text 2"/>
          <p:cNvSpPr/>
          <p:nvPr/>
        </p:nvSpPr>
        <p:spPr>
          <a:xfrm>
            <a:off x="793790" y="2570559"/>
            <a:ext cx="6914317" cy="283488"/>
          </a:xfrm>
          <a:prstGeom prst="rect">
            <a:avLst/>
          </a:prstGeom>
          <a:noFill/>
          <a:ln/>
        </p:spPr>
        <p:txBody>
          <a:bodyPr wrap="none" lIns="0" tIns="0" rIns="0" bIns="0" rtlCol="0" anchor="t"/>
          <a:lstStyle/>
          <a:p>
            <a:pPr marL="0" indent="0" algn="l">
              <a:lnSpc>
                <a:spcPts val="2200"/>
              </a:lnSpc>
              <a:buNone/>
            </a:pPr>
            <a:r>
              <a:rPr lang="en-US" sz="1750" b="1" dirty="0">
                <a:solidFill>
                  <a:srgbClr val="F94CAF"/>
                </a:solidFill>
                <a:latin typeface="Inconsolata Bold" pitchFamily="34" charset="0"/>
                <a:ea typeface="Inconsolata Bold" pitchFamily="34" charset="-122"/>
                <a:cs typeface="Inconsolata Bold" pitchFamily="34" charset="-120"/>
              </a:rPr>
              <a:t>Likelihood to Open (Mean Score &amp; Proportion) by Income Group:</a:t>
            </a:r>
            <a:endParaRPr lang="en-US" sz="1750" dirty="0"/>
          </a:p>
        </p:txBody>
      </p:sp>
      <p:sp>
        <p:nvSpPr>
          <p:cNvPr id="5" name="Shape 3"/>
          <p:cNvSpPr/>
          <p:nvPr/>
        </p:nvSpPr>
        <p:spPr>
          <a:xfrm>
            <a:off x="793790" y="3126224"/>
            <a:ext cx="13042821" cy="4315301"/>
          </a:xfrm>
          <a:prstGeom prst="roundRect">
            <a:avLst>
              <a:gd name="adj" fmla="val 631"/>
            </a:avLst>
          </a:prstGeom>
          <a:noFill/>
          <a:ln w="7620">
            <a:solidFill>
              <a:srgbClr val="FFFFFF">
                <a:alpha val="24000"/>
              </a:srgbClr>
            </a:solidFill>
            <a:prstDash val="solid"/>
          </a:ln>
        </p:spPr>
        <p:txBody>
          <a:bodyPr/>
          <a:lstStyle/>
          <a:p>
            <a:endParaRPr lang="zh-CN" altLang="en-US"/>
          </a:p>
        </p:txBody>
      </p:sp>
      <p:sp>
        <p:nvSpPr>
          <p:cNvPr id="6" name="Shape 4"/>
          <p:cNvSpPr/>
          <p:nvPr/>
        </p:nvSpPr>
        <p:spPr>
          <a:xfrm>
            <a:off x="801410" y="3133844"/>
            <a:ext cx="13027581" cy="813435"/>
          </a:xfrm>
          <a:prstGeom prst="rect">
            <a:avLst/>
          </a:prstGeom>
          <a:solidFill>
            <a:srgbClr val="FFFFFF">
              <a:alpha val="4000"/>
            </a:srgbClr>
          </a:solidFill>
          <a:ln/>
        </p:spPr>
        <p:txBody>
          <a:bodyPr/>
          <a:lstStyle/>
          <a:p>
            <a:endParaRPr lang="zh-CN" altLang="en-US"/>
          </a:p>
        </p:txBody>
      </p:sp>
      <p:sp>
        <p:nvSpPr>
          <p:cNvPr id="7" name="Text 5"/>
          <p:cNvSpPr/>
          <p:nvPr/>
        </p:nvSpPr>
        <p:spPr>
          <a:xfrm>
            <a:off x="983099" y="3250287"/>
            <a:ext cx="126170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Income Group</a:t>
            </a:r>
            <a:endParaRPr lang="en-US" sz="1400" dirty="0"/>
          </a:p>
        </p:txBody>
      </p:sp>
      <p:sp>
        <p:nvSpPr>
          <p:cNvPr id="8" name="Text 6"/>
          <p:cNvSpPr/>
          <p:nvPr/>
        </p:nvSpPr>
        <p:spPr>
          <a:xfrm>
            <a:off x="2615327" y="325028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Option A</a:t>
            </a:r>
            <a:endParaRPr lang="en-US" sz="1400" dirty="0"/>
          </a:p>
        </p:txBody>
      </p:sp>
      <p:sp>
        <p:nvSpPr>
          <p:cNvPr id="9" name="Text 7"/>
          <p:cNvSpPr/>
          <p:nvPr/>
        </p:nvSpPr>
        <p:spPr>
          <a:xfrm>
            <a:off x="4243745" y="325028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Option B</a:t>
            </a:r>
            <a:endParaRPr lang="en-US" sz="1400" dirty="0"/>
          </a:p>
        </p:txBody>
      </p:sp>
      <p:sp>
        <p:nvSpPr>
          <p:cNvPr id="10" name="Text 8"/>
          <p:cNvSpPr/>
          <p:nvPr/>
        </p:nvSpPr>
        <p:spPr>
          <a:xfrm>
            <a:off x="5872163" y="325028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p-value (Mean)</a:t>
            </a:r>
            <a:endParaRPr lang="en-US" sz="1400" dirty="0"/>
          </a:p>
        </p:txBody>
      </p:sp>
      <p:sp>
        <p:nvSpPr>
          <p:cNvPr id="11" name="Text 9"/>
          <p:cNvSpPr/>
          <p:nvPr/>
        </p:nvSpPr>
        <p:spPr>
          <a:xfrm>
            <a:off x="7500580" y="325028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Prop A</a:t>
            </a:r>
            <a:endParaRPr lang="en-US" sz="1400" dirty="0"/>
          </a:p>
        </p:txBody>
      </p:sp>
      <p:sp>
        <p:nvSpPr>
          <p:cNvPr id="12" name="Text 10"/>
          <p:cNvSpPr/>
          <p:nvPr/>
        </p:nvSpPr>
        <p:spPr>
          <a:xfrm>
            <a:off x="9128998" y="325028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Prop B</a:t>
            </a:r>
            <a:endParaRPr lang="en-US" sz="1400" dirty="0"/>
          </a:p>
        </p:txBody>
      </p:sp>
      <p:sp>
        <p:nvSpPr>
          <p:cNvPr id="13" name="Text 11"/>
          <p:cNvSpPr/>
          <p:nvPr/>
        </p:nvSpPr>
        <p:spPr>
          <a:xfrm>
            <a:off x="10757416" y="325028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p-value (Prop)</a:t>
            </a:r>
            <a:endParaRPr lang="en-US" sz="1400" dirty="0"/>
          </a:p>
        </p:txBody>
      </p:sp>
      <p:sp>
        <p:nvSpPr>
          <p:cNvPr id="14" name="Text 12"/>
          <p:cNvSpPr/>
          <p:nvPr/>
        </p:nvSpPr>
        <p:spPr>
          <a:xfrm>
            <a:off x="12385834" y="3250287"/>
            <a:ext cx="1261705" cy="580549"/>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Conclusion (α=0.05)</a:t>
            </a:r>
            <a:endParaRPr lang="en-US" sz="1400" dirty="0"/>
          </a:p>
        </p:txBody>
      </p:sp>
      <p:sp>
        <p:nvSpPr>
          <p:cNvPr id="15" name="Shape 13"/>
          <p:cNvSpPr/>
          <p:nvPr/>
        </p:nvSpPr>
        <p:spPr>
          <a:xfrm>
            <a:off x="801410" y="3947279"/>
            <a:ext cx="13027581" cy="813435"/>
          </a:xfrm>
          <a:prstGeom prst="rect">
            <a:avLst/>
          </a:prstGeom>
          <a:solidFill>
            <a:srgbClr val="000000">
              <a:alpha val="4000"/>
            </a:srgbClr>
          </a:solidFill>
          <a:ln/>
        </p:spPr>
        <p:txBody>
          <a:bodyPr/>
          <a:lstStyle/>
          <a:p>
            <a:endParaRPr lang="zh-CN" altLang="en-US"/>
          </a:p>
        </p:txBody>
      </p:sp>
      <p:sp>
        <p:nvSpPr>
          <p:cNvPr id="16" name="Text 14"/>
          <p:cNvSpPr/>
          <p:nvPr/>
        </p:nvSpPr>
        <p:spPr>
          <a:xfrm>
            <a:off x="983099" y="4063722"/>
            <a:ext cx="1261705" cy="580549"/>
          </a:xfrm>
          <a:prstGeom prst="rect">
            <a:avLst/>
          </a:prstGeom>
          <a:noFill/>
          <a:ln/>
        </p:spPr>
        <p:txBody>
          <a:bodyPr wrap="square" lIns="0" tIns="0" rIns="0" bIns="0" rtlCol="0" anchor="t"/>
          <a:lstStyle/>
          <a:p>
            <a:pPr marL="0" indent="0" algn="l">
              <a:lnSpc>
                <a:spcPts val="2250"/>
              </a:lnSpc>
              <a:buNone/>
            </a:pPr>
            <a:r>
              <a:rPr lang="en-US" sz="1400" b="1" dirty="0">
                <a:solidFill>
                  <a:srgbClr val="DAD1E6"/>
                </a:solidFill>
                <a:latin typeface="Fira Sans" pitchFamily="34" charset="0"/>
                <a:ea typeface="Fira Sans" pitchFamily="34" charset="-122"/>
                <a:cs typeface="Fira Sans" pitchFamily="34" charset="-120"/>
              </a:rPr>
              <a:t>$75,000-$99,999</a:t>
            </a:r>
            <a:endParaRPr lang="en-US" sz="1400" dirty="0"/>
          </a:p>
        </p:txBody>
      </p:sp>
      <p:sp>
        <p:nvSpPr>
          <p:cNvPr id="17" name="Text 15"/>
          <p:cNvSpPr/>
          <p:nvPr/>
        </p:nvSpPr>
        <p:spPr>
          <a:xfrm>
            <a:off x="2615327" y="4063722"/>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3.12</a:t>
            </a:r>
            <a:endParaRPr lang="en-US" sz="1400" dirty="0"/>
          </a:p>
        </p:txBody>
      </p:sp>
      <p:sp>
        <p:nvSpPr>
          <p:cNvPr id="18" name="Text 16"/>
          <p:cNvSpPr/>
          <p:nvPr/>
        </p:nvSpPr>
        <p:spPr>
          <a:xfrm>
            <a:off x="4243745" y="4063722"/>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2.74</a:t>
            </a:r>
            <a:endParaRPr lang="en-US" sz="1400" dirty="0"/>
          </a:p>
        </p:txBody>
      </p:sp>
      <p:sp>
        <p:nvSpPr>
          <p:cNvPr id="19" name="Text 17"/>
          <p:cNvSpPr/>
          <p:nvPr/>
        </p:nvSpPr>
        <p:spPr>
          <a:xfrm>
            <a:off x="5872163" y="4063722"/>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0.0400</a:t>
            </a:r>
            <a:endParaRPr lang="en-US" sz="1400" dirty="0"/>
          </a:p>
        </p:txBody>
      </p:sp>
      <p:sp>
        <p:nvSpPr>
          <p:cNvPr id="20" name="Text 18"/>
          <p:cNvSpPr/>
          <p:nvPr/>
        </p:nvSpPr>
        <p:spPr>
          <a:xfrm>
            <a:off x="7500580" y="4063722"/>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46.73%</a:t>
            </a:r>
            <a:endParaRPr lang="en-US" sz="1400" dirty="0"/>
          </a:p>
        </p:txBody>
      </p:sp>
      <p:sp>
        <p:nvSpPr>
          <p:cNvPr id="21" name="Text 19"/>
          <p:cNvSpPr/>
          <p:nvPr/>
        </p:nvSpPr>
        <p:spPr>
          <a:xfrm>
            <a:off x="9128998" y="4063722"/>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31.78%</a:t>
            </a:r>
            <a:endParaRPr lang="en-US" sz="1400" dirty="0"/>
          </a:p>
        </p:txBody>
      </p:sp>
      <p:sp>
        <p:nvSpPr>
          <p:cNvPr id="22" name="Text 20"/>
          <p:cNvSpPr/>
          <p:nvPr/>
        </p:nvSpPr>
        <p:spPr>
          <a:xfrm>
            <a:off x="10757416" y="4063722"/>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0.0251</a:t>
            </a:r>
            <a:endParaRPr lang="en-US" sz="1400" dirty="0"/>
          </a:p>
        </p:txBody>
      </p:sp>
      <p:sp>
        <p:nvSpPr>
          <p:cNvPr id="23" name="Text 21"/>
          <p:cNvSpPr/>
          <p:nvPr/>
        </p:nvSpPr>
        <p:spPr>
          <a:xfrm>
            <a:off x="12385834" y="4063722"/>
            <a:ext cx="1261705" cy="580549"/>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Significant (A &gt; B)</a:t>
            </a:r>
            <a:endParaRPr lang="en-US" sz="1400" dirty="0"/>
          </a:p>
        </p:txBody>
      </p:sp>
      <p:sp>
        <p:nvSpPr>
          <p:cNvPr id="24" name="Shape 22"/>
          <p:cNvSpPr/>
          <p:nvPr/>
        </p:nvSpPr>
        <p:spPr>
          <a:xfrm>
            <a:off x="801410" y="4760714"/>
            <a:ext cx="13027581" cy="523161"/>
          </a:xfrm>
          <a:prstGeom prst="rect">
            <a:avLst/>
          </a:prstGeom>
          <a:solidFill>
            <a:srgbClr val="FFFFFF">
              <a:alpha val="4000"/>
            </a:srgbClr>
          </a:solidFill>
          <a:ln/>
        </p:spPr>
        <p:txBody>
          <a:bodyPr/>
          <a:lstStyle/>
          <a:p>
            <a:endParaRPr lang="zh-CN" altLang="en-US"/>
          </a:p>
        </p:txBody>
      </p:sp>
      <p:sp>
        <p:nvSpPr>
          <p:cNvPr id="25" name="Text 23"/>
          <p:cNvSpPr/>
          <p:nvPr/>
        </p:nvSpPr>
        <p:spPr>
          <a:xfrm>
            <a:off x="983099" y="4877157"/>
            <a:ext cx="1261705" cy="290274"/>
          </a:xfrm>
          <a:prstGeom prst="rect">
            <a:avLst/>
          </a:prstGeom>
          <a:noFill/>
          <a:ln/>
        </p:spPr>
        <p:txBody>
          <a:bodyPr wrap="none" lIns="0" tIns="0" rIns="0" bIns="0" rtlCol="0" anchor="t"/>
          <a:lstStyle/>
          <a:p>
            <a:pPr marL="0" indent="0" algn="l">
              <a:lnSpc>
                <a:spcPts val="2250"/>
              </a:lnSpc>
              <a:buNone/>
            </a:pPr>
            <a:r>
              <a:rPr lang="en-US" sz="1400" b="1" dirty="0">
                <a:solidFill>
                  <a:srgbClr val="DAD1E6"/>
                </a:solidFill>
                <a:latin typeface="Fira Sans" pitchFamily="34" charset="0"/>
                <a:ea typeface="Fira Sans" pitchFamily="34" charset="-122"/>
                <a:cs typeface="Fira Sans" pitchFamily="34" charset="-120"/>
              </a:rPr>
              <a:t>$100,000+</a:t>
            </a:r>
            <a:endParaRPr lang="en-US" sz="1400" dirty="0"/>
          </a:p>
        </p:txBody>
      </p:sp>
      <p:sp>
        <p:nvSpPr>
          <p:cNvPr id="26" name="Text 24"/>
          <p:cNvSpPr/>
          <p:nvPr/>
        </p:nvSpPr>
        <p:spPr>
          <a:xfrm>
            <a:off x="2615327" y="487715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3.13</a:t>
            </a:r>
            <a:endParaRPr lang="en-US" sz="1400" dirty="0"/>
          </a:p>
        </p:txBody>
      </p:sp>
      <p:sp>
        <p:nvSpPr>
          <p:cNvPr id="27" name="Text 25"/>
          <p:cNvSpPr/>
          <p:nvPr/>
        </p:nvSpPr>
        <p:spPr>
          <a:xfrm>
            <a:off x="4243745" y="487715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2.76</a:t>
            </a:r>
            <a:endParaRPr lang="en-US" sz="1400" dirty="0"/>
          </a:p>
        </p:txBody>
      </p:sp>
      <p:sp>
        <p:nvSpPr>
          <p:cNvPr id="28" name="Text 26"/>
          <p:cNvSpPr/>
          <p:nvPr/>
        </p:nvSpPr>
        <p:spPr>
          <a:xfrm>
            <a:off x="5872163" y="487715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0.0870</a:t>
            </a:r>
            <a:endParaRPr lang="en-US" sz="1400" dirty="0"/>
          </a:p>
        </p:txBody>
      </p:sp>
      <p:sp>
        <p:nvSpPr>
          <p:cNvPr id="29" name="Text 27"/>
          <p:cNvSpPr/>
          <p:nvPr/>
        </p:nvSpPr>
        <p:spPr>
          <a:xfrm>
            <a:off x="7500580" y="487715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43.02%</a:t>
            </a:r>
            <a:endParaRPr lang="en-US" sz="1400" dirty="0"/>
          </a:p>
        </p:txBody>
      </p:sp>
      <p:sp>
        <p:nvSpPr>
          <p:cNvPr id="30" name="Text 28"/>
          <p:cNvSpPr/>
          <p:nvPr/>
        </p:nvSpPr>
        <p:spPr>
          <a:xfrm>
            <a:off x="9128998" y="487715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30.23%</a:t>
            </a:r>
            <a:endParaRPr lang="en-US" sz="1400" dirty="0"/>
          </a:p>
        </p:txBody>
      </p:sp>
      <p:sp>
        <p:nvSpPr>
          <p:cNvPr id="31" name="Text 29"/>
          <p:cNvSpPr/>
          <p:nvPr/>
        </p:nvSpPr>
        <p:spPr>
          <a:xfrm>
            <a:off x="10757416" y="4877157"/>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0.0817</a:t>
            </a:r>
            <a:endParaRPr lang="en-US" sz="1400" dirty="0"/>
          </a:p>
        </p:txBody>
      </p:sp>
      <p:sp>
        <p:nvSpPr>
          <p:cNvPr id="32" name="Text 30"/>
          <p:cNvSpPr/>
          <p:nvPr/>
        </p:nvSpPr>
        <p:spPr>
          <a:xfrm>
            <a:off x="12385834" y="4877157"/>
            <a:ext cx="126170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Not Significant</a:t>
            </a:r>
            <a:endParaRPr lang="en-US" sz="1400" dirty="0"/>
          </a:p>
        </p:txBody>
      </p:sp>
      <p:sp>
        <p:nvSpPr>
          <p:cNvPr id="33" name="Shape 31"/>
          <p:cNvSpPr/>
          <p:nvPr/>
        </p:nvSpPr>
        <p:spPr>
          <a:xfrm>
            <a:off x="801410" y="5283875"/>
            <a:ext cx="13027581" cy="813435"/>
          </a:xfrm>
          <a:prstGeom prst="rect">
            <a:avLst/>
          </a:prstGeom>
          <a:solidFill>
            <a:srgbClr val="000000">
              <a:alpha val="4000"/>
            </a:srgbClr>
          </a:solidFill>
          <a:ln/>
        </p:spPr>
        <p:txBody>
          <a:bodyPr/>
          <a:lstStyle/>
          <a:p>
            <a:endParaRPr lang="zh-CN" altLang="en-US"/>
          </a:p>
        </p:txBody>
      </p:sp>
      <p:sp>
        <p:nvSpPr>
          <p:cNvPr id="34" name="Text 32"/>
          <p:cNvSpPr/>
          <p:nvPr/>
        </p:nvSpPr>
        <p:spPr>
          <a:xfrm>
            <a:off x="983099" y="5400318"/>
            <a:ext cx="1261705" cy="580549"/>
          </a:xfrm>
          <a:prstGeom prst="rect">
            <a:avLst/>
          </a:prstGeom>
          <a:noFill/>
          <a:ln/>
        </p:spPr>
        <p:txBody>
          <a:bodyPr wrap="square" lIns="0" tIns="0" rIns="0" bIns="0" rtlCol="0" anchor="t"/>
          <a:lstStyle/>
          <a:p>
            <a:pPr marL="0" indent="0" algn="l">
              <a:lnSpc>
                <a:spcPts val="2250"/>
              </a:lnSpc>
              <a:buNone/>
            </a:pPr>
            <a:r>
              <a:rPr lang="en-US" sz="1400" b="1" dirty="0">
                <a:solidFill>
                  <a:srgbClr val="DAD1E6"/>
                </a:solidFill>
                <a:latin typeface="Fira Sans" pitchFamily="34" charset="0"/>
                <a:ea typeface="Fira Sans" pitchFamily="34" charset="-122"/>
                <a:cs typeface="Fira Sans" pitchFamily="34" charset="-120"/>
              </a:rPr>
              <a:t>$50,000-$74,999</a:t>
            </a:r>
            <a:endParaRPr lang="en-US" sz="1400" dirty="0"/>
          </a:p>
        </p:txBody>
      </p:sp>
      <p:sp>
        <p:nvSpPr>
          <p:cNvPr id="35" name="Text 33"/>
          <p:cNvSpPr/>
          <p:nvPr/>
        </p:nvSpPr>
        <p:spPr>
          <a:xfrm>
            <a:off x="2615327" y="540031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3.06</a:t>
            </a:r>
            <a:endParaRPr lang="en-US" sz="1400" dirty="0"/>
          </a:p>
        </p:txBody>
      </p:sp>
      <p:sp>
        <p:nvSpPr>
          <p:cNvPr id="36" name="Text 34"/>
          <p:cNvSpPr/>
          <p:nvPr/>
        </p:nvSpPr>
        <p:spPr>
          <a:xfrm>
            <a:off x="4243745" y="540031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2.68</a:t>
            </a:r>
            <a:endParaRPr lang="en-US" sz="1400" dirty="0"/>
          </a:p>
        </p:txBody>
      </p:sp>
      <p:sp>
        <p:nvSpPr>
          <p:cNvPr id="37" name="Text 35"/>
          <p:cNvSpPr/>
          <p:nvPr/>
        </p:nvSpPr>
        <p:spPr>
          <a:xfrm>
            <a:off x="5872163" y="540031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0.0587</a:t>
            </a:r>
            <a:endParaRPr lang="en-US" sz="1400" dirty="0"/>
          </a:p>
        </p:txBody>
      </p:sp>
      <p:sp>
        <p:nvSpPr>
          <p:cNvPr id="38" name="Text 36"/>
          <p:cNvSpPr/>
          <p:nvPr/>
        </p:nvSpPr>
        <p:spPr>
          <a:xfrm>
            <a:off x="7500580" y="540031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42.86%</a:t>
            </a:r>
            <a:endParaRPr lang="en-US" sz="1400" dirty="0"/>
          </a:p>
        </p:txBody>
      </p:sp>
      <p:sp>
        <p:nvSpPr>
          <p:cNvPr id="39" name="Text 37"/>
          <p:cNvSpPr/>
          <p:nvPr/>
        </p:nvSpPr>
        <p:spPr>
          <a:xfrm>
            <a:off x="9128998" y="540031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31.63%</a:t>
            </a:r>
            <a:endParaRPr lang="en-US" sz="1400" dirty="0"/>
          </a:p>
        </p:txBody>
      </p:sp>
      <p:sp>
        <p:nvSpPr>
          <p:cNvPr id="40" name="Text 38"/>
          <p:cNvSpPr/>
          <p:nvPr/>
        </p:nvSpPr>
        <p:spPr>
          <a:xfrm>
            <a:off x="10757416" y="540031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0.1041</a:t>
            </a:r>
            <a:endParaRPr lang="en-US" sz="1400" dirty="0"/>
          </a:p>
        </p:txBody>
      </p:sp>
      <p:sp>
        <p:nvSpPr>
          <p:cNvPr id="41" name="Text 39"/>
          <p:cNvSpPr/>
          <p:nvPr/>
        </p:nvSpPr>
        <p:spPr>
          <a:xfrm>
            <a:off x="12385834" y="5400318"/>
            <a:ext cx="126170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Not Significant</a:t>
            </a:r>
            <a:endParaRPr lang="en-US" sz="1400" dirty="0"/>
          </a:p>
        </p:txBody>
      </p:sp>
      <p:sp>
        <p:nvSpPr>
          <p:cNvPr id="42" name="Shape 40"/>
          <p:cNvSpPr/>
          <p:nvPr/>
        </p:nvSpPr>
        <p:spPr>
          <a:xfrm>
            <a:off x="801410" y="6097310"/>
            <a:ext cx="13027581" cy="813435"/>
          </a:xfrm>
          <a:prstGeom prst="rect">
            <a:avLst/>
          </a:prstGeom>
          <a:solidFill>
            <a:srgbClr val="FFFFFF">
              <a:alpha val="4000"/>
            </a:srgbClr>
          </a:solidFill>
          <a:ln/>
        </p:spPr>
        <p:txBody>
          <a:bodyPr/>
          <a:lstStyle/>
          <a:p>
            <a:endParaRPr lang="zh-CN" altLang="en-US"/>
          </a:p>
        </p:txBody>
      </p:sp>
      <p:sp>
        <p:nvSpPr>
          <p:cNvPr id="43" name="Text 41"/>
          <p:cNvSpPr/>
          <p:nvPr/>
        </p:nvSpPr>
        <p:spPr>
          <a:xfrm>
            <a:off x="983099" y="6213753"/>
            <a:ext cx="1261705" cy="580549"/>
          </a:xfrm>
          <a:prstGeom prst="rect">
            <a:avLst/>
          </a:prstGeom>
          <a:noFill/>
          <a:ln/>
        </p:spPr>
        <p:txBody>
          <a:bodyPr wrap="square" lIns="0" tIns="0" rIns="0" bIns="0" rtlCol="0" anchor="t"/>
          <a:lstStyle/>
          <a:p>
            <a:pPr marL="0" indent="0" algn="l">
              <a:lnSpc>
                <a:spcPts val="2250"/>
              </a:lnSpc>
              <a:buNone/>
            </a:pPr>
            <a:r>
              <a:rPr lang="en-US" sz="1400" b="1" dirty="0">
                <a:solidFill>
                  <a:srgbClr val="DAD1E6"/>
                </a:solidFill>
                <a:latin typeface="Fira Sans" pitchFamily="34" charset="0"/>
                <a:ea typeface="Fira Sans" pitchFamily="34" charset="-122"/>
                <a:cs typeface="Fira Sans" pitchFamily="34" charset="-120"/>
              </a:rPr>
              <a:t>$25,000-$49,999</a:t>
            </a:r>
            <a:endParaRPr lang="en-US" sz="1400" dirty="0"/>
          </a:p>
        </p:txBody>
      </p:sp>
      <p:sp>
        <p:nvSpPr>
          <p:cNvPr id="44" name="Text 42"/>
          <p:cNvSpPr/>
          <p:nvPr/>
        </p:nvSpPr>
        <p:spPr>
          <a:xfrm>
            <a:off x="2615327" y="6213753"/>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2.92</a:t>
            </a:r>
            <a:endParaRPr lang="en-US" sz="1400" dirty="0"/>
          </a:p>
        </p:txBody>
      </p:sp>
      <p:sp>
        <p:nvSpPr>
          <p:cNvPr id="45" name="Text 43"/>
          <p:cNvSpPr/>
          <p:nvPr/>
        </p:nvSpPr>
        <p:spPr>
          <a:xfrm>
            <a:off x="4243745" y="6213753"/>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2.76</a:t>
            </a:r>
            <a:endParaRPr lang="en-US" sz="1400" dirty="0"/>
          </a:p>
        </p:txBody>
      </p:sp>
      <p:sp>
        <p:nvSpPr>
          <p:cNvPr id="46" name="Text 44"/>
          <p:cNvSpPr/>
          <p:nvPr/>
        </p:nvSpPr>
        <p:spPr>
          <a:xfrm>
            <a:off x="5872163" y="6213753"/>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0.4330</a:t>
            </a:r>
            <a:endParaRPr lang="en-US" sz="1400" dirty="0"/>
          </a:p>
        </p:txBody>
      </p:sp>
      <p:sp>
        <p:nvSpPr>
          <p:cNvPr id="47" name="Text 45"/>
          <p:cNvSpPr/>
          <p:nvPr/>
        </p:nvSpPr>
        <p:spPr>
          <a:xfrm>
            <a:off x="7500580" y="6213753"/>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39.81%</a:t>
            </a:r>
            <a:endParaRPr lang="en-US" sz="1400" dirty="0"/>
          </a:p>
        </p:txBody>
      </p:sp>
      <p:sp>
        <p:nvSpPr>
          <p:cNvPr id="48" name="Text 46"/>
          <p:cNvSpPr/>
          <p:nvPr/>
        </p:nvSpPr>
        <p:spPr>
          <a:xfrm>
            <a:off x="9128998" y="6213753"/>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36.11%</a:t>
            </a:r>
            <a:endParaRPr lang="en-US" sz="1400" dirty="0"/>
          </a:p>
        </p:txBody>
      </p:sp>
      <p:sp>
        <p:nvSpPr>
          <p:cNvPr id="49" name="Text 47"/>
          <p:cNvSpPr/>
          <p:nvPr/>
        </p:nvSpPr>
        <p:spPr>
          <a:xfrm>
            <a:off x="10757416" y="6213753"/>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0.5749</a:t>
            </a:r>
            <a:endParaRPr lang="en-US" sz="1400" dirty="0"/>
          </a:p>
        </p:txBody>
      </p:sp>
      <p:sp>
        <p:nvSpPr>
          <p:cNvPr id="50" name="Text 48"/>
          <p:cNvSpPr/>
          <p:nvPr/>
        </p:nvSpPr>
        <p:spPr>
          <a:xfrm>
            <a:off x="12385834" y="6213753"/>
            <a:ext cx="126170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Not Significant</a:t>
            </a:r>
            <a:endParaRPr lang="en-US" sz="1400" dirty="0"/>
          </a:p>
        </p:txBody>
      </p:sp>
      <p:sp>
        <p:nvSpPr>
          <p:cNvPr id="51" name="Shape 49"/>
          <p:cNvSpPr/>
          <p:nvPr/>
        </p:nvSpPr>
        <p:spPr>
          <a:xfrm>
            <a:off x="801410" y="6910745"/>
            <a:ext cx="13027581" cy="523161"/>
          </a:xfrm>
          <a:prstGeom prst="rect">
            <a:avLst/>
          </a:prstGeom>
          <a:solidFill>
            <a:srgbClr val="000000">
              <a:alpha val="4000"/>
            </a:srgbClr>
          </a:solidFill>
          <a:ln/>
        </p:spPr>
        <p:txBody>
          <a:bodyPr/>
          <a:lstStyle/>
          <a:p>
            <a:endParaRPr lang="zh-CN" altLang="en-US"/>
          </a:p>
        </p:txBody>
      </p:sp>
      <p:sp>
        <p:nvSpPr>
          <p:cNvPr id="52" name="Text 50"/>
          <p:cNvSpPr/>
          <p:nvPr/>
        </p:nvSpPr>
        <p:spPr>
          <a:xfrm>
            <a:off x="983099" y="7027188"/>
            <a:ext cx="1261705" cy="290274"/>
          </a:xfrm>
          <a:prstGeom prst="rect">
            <a:avLst/>
          </a:prstGeom>
          <a:noFill/>
          <a:ln/>
        </p:spPr>
        <p:txBody>
          <a:bodyPr wrap="none" lIns="0" tIns="0" rIns="0" bIns="0" rtlCol="0" anchor="t"/>
          <a:lstStyle/>
          <a:p>
            <a:pPr marL="0" indent="0" algn="l">
              <a:lnSpc>
                <a:spcPts val="2250"/>
              </a:lnSpc>
              <a:buNone/>
            </a:pPr>
            <a:r>
              <a:rPr lang="en-US" sz="1400" b="1" dirty="0">
                <a:solidFill>
                  <a:srgbClr val="DAD1E6"/>
                </a:solidFill>
                <a:latin typeface="Fira Sans" pitchFamily="34" charset="0"/>
                <a:ea typeface="Fira Sans" pitchFamily="34" charset="-122"/>
                <a:cs typeface="Fira Sans" pitchFamily="34" charset="-120"/>
              </a:rPr>
              <a:t>&lt;$25,000</a:t>
            </a:r>
            <a:endParaRPr lang="en-US" sz="1400" dirty="0"/>
          </a:p>
        </p:txBody>
      </p:sp>
      <p:sp>
        <p:nvSpPr>
          <p:cNvPr id="53" name="Text 51"/>
          <p:cNvSpPr/>
          <p:nvPr/>
        </p:nvSpPr>
        <p:spPr>
          <a:xfrm>
            <a:off x="2615327" y="702718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2.94</a:t>
            </a:r>
            <a:endParaRPr lang="en-US" sz="1400" dirty="0"/>
          </a:p>
        </p:txBody>
      </p:sp>
      <p:sp>
        <p:nvSpPr>
          <p:cNvPr id="54" name="Text 52"/>
          <p:cNvSpPr/>
          <p:nvPr/>
        </p:nvSpPr>
        <p:spPr>
          <a:xfrm>
            <a:off x="4243745" y="702718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2.82</a:t>
            </a:r>
            <a:endParaRPr lang="en-US" sz="1400" dirty="0"/>
          </a:p>
        </p:txBody>
      </p:sp>
      <p:sp>
        <p:nvSpPr>
          <p:cNvPr id="55" name="Text 53"/>
          <p:cNvSpPr/>
          <p:nvPr/>
        </p:nvSpPr>
        <p:spPr>
          <a:xfrm>
            <a:off x="5872163" y="702718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0.5709</a:t>
            </a:r>
            <a:endParaRPr lang="en-US" sz="1400" dirty="0"/>
          </a:p>
        </p:txBody>
      </p:sp>
      <p:sp>
        <p:nvSpPr>
          <p:cNvPr id="56" name="Text 54"/>
          <p:cNvSpPr/>
          <p:nvPr/>
        </p:nvSpPr>
        <p:spPr>
          <a:xfrm>
            <a:off x="7500580" y="702718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37.62%</a:t>
            </a:r>
            <a:endParaRPr lang="en-US" sz="1400" dirty="0"/>
          </a:p>
        </p:txBody>
      </p:sp>
      <p:sp>
        <p:nvSpPr>
          <p:cNvPr id="57" name="Text 55"/>
          <p:cNvSpPr/>
          <p:nvPr/>
        </p:nvSpPr>
        <p:spPr>
          <a:xfrm>
            <a:off x="9128998" y="702718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36.63%</a:t>
            </a:r>
            <a:endParaRPr lang="en-US" sz="1400" dirty="0"/>
          </a:p>
        </p:txBody>
      </p:sp>
      <p:sp>
        <p:nvSpPr>
          <p:cNvPr id="58" name="Text 56"/>
          <p:cNvSpPr/>
          <p:nvPr/>
        </p:nvSpPr>
        <p:spPr>
          <a:xfrm>
            <a:off x="10757416" y="7027188"/>
            <a:ext cx="125789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0.8842</a:t>
            </a:r>
            <a:endParaRPr lang="en-US" sz="1400" dirty="0"/>
          </a:p>
        </p:txBody>
      </p:sp>
      <p:sp>
        <p:nvSpPr>
          <p:cNvPr id="59" name="Text 57"/>
          <p:cNvSpPr/>
          <p:nvPr/>
        </p:nvSpPr>
        <p:spPr>
          <a:xfrm>
            <a:off x="12385834" y="7027188"/>
            <a:ext cx="1261705" cy="290274"/>
          </a:xfrm>
          <a:prstGeom prst="rect">
            <a:avLst/>
          </a:prstGeom>
          <a:noFill/>
          <a:ln/>
        </p:spPr>
        <p:txBody>
          <a:bodyPr wrap="non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Not Significant</a:t>
            </a:r>
            <a:endParaRPr lang="en-US" sz="1400" dirty="0"/>
          </a:p>
        </p:txBody>
      </p:sp>
      <p:pic>
        <p:nvPicPr>
          <p:cNvPr id="60" name="图片 59">
            <a:extLst>
              <a:ext uri="{FF2B5EF4-FFF2-40B4-BE49-F238E27FC236}">
                <a16:creationId xmlns:a16="http://schemas.microsoft.com/office/drawing/2014/main" id="{3CFAC794-DF06-06B4-0567-A040E3A90A04}"/>
              </a:ext>
            </a:extLst>
          </p:cNvPr>
          <p:cNvPicPr>
            <a:picLocks noChangeAspect="1"/>
          </p:cNvPicPr>
          <p:nvPr/>
        </p:nvPicPr>
        <p:blipFill>
          <a:blip r:embed="rId3"/>
          <a:stretch>
            <a:fillRect/>
          </a:stretch>
        </p:blipFill>
        <p:spPr>
          <a:xfrm>
            <a:off x="12878381" y="7683818"/>
            <a:ext cx="1664811" cy="5192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48CE4-9BAC-FE10-02CA-7F5123B8B0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0C6689-45C3-DC8A-5A61-DA075A81EB8D}"/>
              </a:ext>
            </a:extLst>
          </p:cNvPr>
          <p:cNvSpPr/>
          <p:nvPr/>
        </p:nvSpPr>
        <p:spPr>
          <a:xfrm>
            <a:off x="788670" y="619720"/>
            <a:ext cx="4789051" cy="598527"/>
          </a:xfrm>
          <a:prstGeom prst="rect">
            <a:avLst/>
          </a:prstGeom>
          <a:noFill/>
          <a:ln/>
        </p:spPr>
        <p:txBody>
          <a:bodyPr wrap="none" lIns="0" tIns="0" rIns="0" bIns="0" rtlCol="0" anchor="t"/>
          <a:lstStyle/>
          <a:p>
            <a:pPr>
              <a:lnSpc>
                <a:spcPts val="4700"/>
              </a:lnSpc>
            </a:pPr>
            <a:r>
              <a:rPr lang="en-US" altLang="zh-CN" sz="4000" b="1" dirty="0">
                <a:solidFill>
                  <a:srgbClr val="F94CAF"/>
                </a:solidFill>
                <a:latin typeface="Inconsolata Bold" pitchFamily="34" charset="0"/>
                <a:ea typeface="Inconsolata Bold" pitchFamily="34" charset="-122"/>
                <a:cs typeface="Inconsolata Bold" pitchFamily="34" charset="-120"/>
              </a:rPr>
              <a:t>Income Differences</a:t>
            </a:r>
            <a:endParaRPr lang="en-US" sz="3750" dirty="0"/>
          </a:p>
        </p:txBody>
      </p:sp>
      <p:pic>
        <p:nvPicPr>
          <p:cNvPr id="4" name="图片 3" descr="图表, 条形图&#10;&#10;AI 生成的内容可能不正确。">
            <a:extLst>
              <a:ext uri="{FF2B5EF4-FFF2-40B4-BE49-F238E27FC236}">
                <a16:creationId xmlns:a16="http://schemas.microsoft.com/office/drawing/2014/main" id="{20E69E06-38ED-3463-E3A7-6E64431F89CF}"/>
              </a:ext>
            </a:extLst>
          </p:cNvPr>
          <p:cNvPicPr>
            <a:picLocks noChangeAspect="1"/>
          </p:cNvPicPr>
          <p:nvPr/>
        </p:nvPicPr>
        <p:blipFill>
          <a:blip r:embed="rId3"/>
          <a:stretch>
            <a:fillRect/>
          </a:stretch>
        </p:blipFill>
        <p:spPr>
          <a:xfrm>
            <a:off x="788670" y="1660951"/>
            <a:ext cx="6515435" cy="5131064"/>
          </a:xfrm>
          <a:prstGeom prst="rect">
            <a:avLst/>
          </a:prstGeom>
        </p:spPr>
      </p:pic>
      <p:sp>
        <p:nvSpPr>
          <p:cNvPr id="7" name="Text 1">
            <a:extLst>
              <a:ext uri="{FF2B5EF4-FFF2-40B4-BE49-F238E27FC236}">
                <a16:creationId xmlns:a16="http://schemas.microsoft.com/office/drawing/2014/main" id="{7C45F1F5-8EC6-92CD-3639-7B6860C9932D}"/>
              </a:ext>
            </a:extLst>
          </p:cNvPr>
          <p:cNvSpPr/>
          <p:nvPr/>
        </p:nvSpPr>
        <p:spPr>
          <a:xfrm>
            <a:off x="7747969" y="1875115"/>
            <a:ext cx="6088642" cy="3806729"/>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The advantage of Option A is most pronounced among middle-to-high income respondents. These individuals respond more favorably to professional and trustworthy visual cues, while lower- and higher-income groups show more neutral reactions. </a:t>
            </a:r>
          </a:p>
          <a:p>
            <a:pPr marL="0" indent="0" algn="l">
              <a:lnSpc>
                <a:spcPts val="2850"/>
              </a:lnSpc>
              <a:buNone/>
            </a:pPr>
            <a:endParaRPr lang="en-US" sz="1750" dirty="0">
              <a:solidFill>
                <a:srgbClr val="DAD1E6"/>
              </a:solidFill>
              <a:latin typeface="Fira Sans" pitchFamily="34" charset="0"/>
              <a:ea typeface="Fira Sans" pitchFamily="34" charset="-122"/>
              <a:cs typeface="Fira Sans" pitchFamily="34" charset="-120"/>
            </a:endParaRPr>
          </a:p>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Segmenting creative strategies by income level could further optimize campaign impact.</a:t>
            </a:r>
          </a:p>
          <a:p>
            <a:pPr marL="0" indent="0" algn="l">
              <a:lnSpc>
                <a:spcPts val="2850"/>
              </a:lnSpc>
              <a:buNone/>
            </a:pPr>
            <a:endParaRPr lang="en-US" sz="1750" dirty="0">
              <a:solidFill>
                <a:srgbClr val="DAD1E6"/>
              </a:solidFill>
              <a:latin typeface="Fira Sans" pitchFamily="34" charset="0"/>
            </a:endParaRPr>
          </a:p>
          <a:p>
            <a:pPr marL="0" indent="0" algn="l">
              <a:lnSpc>
                <a:spcPts val="2850"/>
              </a:lnSpc>
              <a:buNone/>
            </a:pPr>
            <a:endParaRPr lang="en-US" sz="1750" dirty="0"/>
          </a:p>
        </p:txBody>
      </p:sp>
      <p:pic>
        <p:nvPicPr>
          <p:cNvPr id="8" name="图片 7">
            <a:extLst>
              <a:ext uri="{FF2B5EF4-FFF2-40B4-BE49-F238E27FC236}">
                <a16:creationId xmlns:a16="http://schemas.microsoft.com/office/drawing/2014/main" id="{762EAF33-553F-3F3B-33B8-B6655DB96C90}"/>
              </a:ext>
            </a:extLst>
          </p:cNvPr>
          <p:cNvPicPr>
            <a:picLocks noChangeAspect="1"/>
          </p:cNvPicPr>
          <p:nvPr/>
        </p:nvPicPr>
        <p:blipFill>
          <a:blip r:embed="rId4"/>
          <a:stretch>
            <a:fillRect/>
          </a:stretch>
        </p:blipFill>
        <p:spPr>
          <a:xfrm>
            <a:off x="12878381" y="7683818"/>
            <a:ext cx="1664811" cy="519262"/>
          </a:xfrm>
          <a:prstGeom prst="rect">
            <a:avLst/>
          </a:prstGeom>
        </p:spPr>
      </p:pic>
    </p:spTree>
    <p:extLst>
      <p:ext uri="{BB962C8B-B14F-4D97-AF65-F5344CB8AC3E}">
        <p14:creationId xmlns:p14="http://schemas.microsoft.com/office/powerpoint/2010/main" val="3666304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49141"/>
            <a:ext cx="6817281" cy="460772"/>
          </a:xfrm>
          <a:prstGeom prst="rect">
            <a:avLst/>
          </a:prstGeom>
          <a:noFill/>
          <a:ln/>
        </p:spPr>
        <p:txBody>
          <a:bodyPr wrap="none" lIns="0" tIns="0" rIns="0" bIns="0" rtlCol="0" anchor="t"/>
          <a:lstStyle/>
          <a:p>
            <a:pPr marL="0" indent="0" algn="l">
              <a:lnSpc>
                <a:spcPts val="3600"/>
              </a:lnSpc>
              <a:buNone/>
            </a:pPr>
            <a:r>
              <a:rPr lang="en-US" sz="2900" b="1" dirty="0">
                <a:solidFill>
                  <a:srgbClr val="F94CAF"/>
                </a:solidFill>
                <a:latin typeface="Inconsolata Bold" pitchFamily="34" charset="0"/>
                <a:ea typeface="Inconsolata Bold" pitchFamily="34" charset="-122"/>
                <a:cs typeface="Inconsolata Bold" pitchFamily="34" charset="-120"/>
              </a:rPr>
              <a:t>Subgroup Analysis: Gender Differences</a:t>
            </a:r>
            <a:endParaRPr lang="en-US" sz="2900" dirty="0"/>
          </a:p>
        </p:txBody>
      </p:sp>
      <p:sp>
        <p:nvSpPr>
          <p:cNvPr id="3" name="Text 1"/>
          <p:cNvSpPr/>
          <p:nvPr/>
        </p:nvSpPr>
        <p:spPr>
          <a:xfrm>
            <a:off x="793790" y="1504712"/>
            <a:ext cx="13042821"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The overall advantage of Option A for "Likelihood to Open" is statistically significant only among Male respondents.</a:t>
            </a:r>
            <a:endParaRPr lang="en-US" sz="1150" dirty="0"/>
          </a:p>
        </p:txBody>
      </p:sp>
      <p:sp>
        <p:nvSpPr>
          <p:cNvPr id="4" name="Text 2"/>
          <p:cNvSpPr/>
          <p:nvPr/>
        </p:nvSpPr>
        <p:spPr>
          <a:xfrm>
            <a:off x="793790" y="1961555"/>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F94CAF"/>
                </a:solidFill>
                <a:latin typeface="Inconsolata Bold" pitchFamily="34" charset="0"/>
                <a:ea typeface="Inconsolata Bold" pitchFamily="34" charset="-122"/>
                <a:cs typeface="Inconsolata Bold" pitchFamily="34" charset="-120"/>
              </a:rPr>
              <a:t>Male Respondents:</a:t>
            </a:r>
            <a:endParaRPr lang="en-US" sz="1450" dirty="0"/>
          </a:p>
        </p:txBody>
      </p:sp>
      <p:sp>
        <p:nvSpPr>
          <p:cNvPr id="5" name="Shape 3"/>
          <p:cNvSpPr/>
          <p:nvPr/>
        </p:nvSpPr>
        <p:spPr>
          <a:xfrm>
            <a:off x="793790" y="2413040"/>
            <a:ext cx="13042821" cy="2197418"/>
          </a:xfrm>
          <a:prstGeom prst="roundRect">
            <a:avLst>
              <a:gd name="adj" fmla="val 1006"/>
            </a:avLst>
          </a:prstGeom>
          <a:noFill/>
          <a:ln w="7620">
            <a:solidFill>
              <a:srgbClr val="FFFFFF">
                <a:alpha val="24000"/>
              </a:srgbClr>
            </a:solidFill>
            <a:prstDash val="solid"/>
          </a:ln>
        </p:spPr>
        <p:txBody>
          <a:bodyPr/>
          <a:lstStyle/>
          <a:p>
            <a:endParaRPr lang="zh-CN" altLang="en-US"/>
          </a:p>
        </p:txBody>
      </p:sp>
      <p:sp>
        <p:nvSpPr>
          <p:cNvPr id="6" name="Shape 4"/>
          <p:cNvSpPr/>
          <p:nvPr/>
        </p:nvSpPr>
        <p:spPr>
          <a:xfrm>
            <a:off x="801410" y="2420660"/>
            <a:ext cx="13030081" cy="427673"/>
          </a:xfrm>
          <a:prstGeom prst="rect">
            <a:avLst/>
          </a:prstGeom>
          <a:solidFill>
            <a:srgbClr val="FFFFFF">
              <a:alpha val="4000"/>
            </a:srgbClr>
          </a:solidFill>
          <a:ln/>
        </p:spPr>
        <p:txBody>
          <a:bodyPr/>
          <a:lstStyle/>
          <a:p>
            <a:endParaRPr lang="zh-CN" altLang="en-US"/>
          </a:p>
        </p:txBody>
      </p:sp>
      <p:sp>
        <p:nvSpPr>
          <p:cNvPr id="7" name="Text 5"/>
          <p:cNvSpPr/>
          <p:nvPr/>
        </p:nvSpPr>
        <p:spPr>
          <a:xfrm>
            <a:off x="949404" y="2516624"/>
            <a:ext cx="187297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Metric</a:t>
            </a:r>
            <a:endParaRPr lang="en-US" sz="1150" dirty="0"/>
          </a:p>
        </p:txBody>
      </p:sp>
      <p:sp>
        <p:nvSpPr>
          <p:cNvPr id="8" name="Text 6"/>
          <p:cNvSpPr/>
          <p:nvPr/>
        </p:nvSpPr>
        <p:spPr>
          <a:xfrm>
            <a:off x="3124795" y="2516624"/>
            <a:ext cx="186916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Option A</a:t>
            </a:r>
            <a:endParaRPr lang="en-US" sz="1150" dirty="0"/>
          </a:p>
        </p:txBody>
      </p:sp>
      <p:sp>
        <p:nvSpPr>
          <p:cNvPr id="9" name="Text 7"/>
          <p:cNvSpPr/>
          <p:nvPr/>
        </p:nvSpPr>
        <p:spPr>
          <a:xfrm>
            <a:off x="5296376" y="2516624"/>
            <a:ext cx="186916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Option B</a:t>
            </a:r>
            <a:endParaRPr lang="en-US" sz="1150" dirty="0"/>
          </a:p>
        </p:txBody>
      </p:sp>
      <p:sp>
        <p:nvSpPr>
          <p:cNvPr id="10" name="Text 8"/>
          <p:cNvSpPr/>
          <p:nvPr/>
        </p:nvSpPr>
        <p:spPr>
          <a:xfrm>
            <a:off x="7467957" y="2516624"/>
            <a:ext cx="186916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T/Z-Statistic</a:t>
            </a:r>
            <a:endParaRPr lang="en-US" sz="1150" dirty="0"/>
          </a:p>
        </p:txBody>
      </p:sp>
      <p:sp>
        <p:nvSpPr>
          <p:cNvPr id="11" name="Text 9"/>
          <p:cNvSpPr/>
          <p:nvPr/>
        </p:nvSpPr>
        <p:spPr>
          <a:xfrm>
            <a:off x="9639538" y="2516624"/>
            <a:ext cx="186916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p-value</a:t>
            </a:r>
            <a:endParaRPr lang="en-US" sz="1150" dirty="0"/>
          </a:p>
        </p:txBody>
      </p:sp>
      <p:sp>
        <p:nvSpPr>
          <p:cNvPr id="12" name="Text 10"/>
          <p:cNvSpPr/>
          <p:nvPr/>
        </p:nvSpPr>
        <p:spPr>
          <a:xfrm>
            <a:off x="11811119" y="2516624"/>
            <a:ext cx="187297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Conclusion (α=0.05)</a:t>
            </a:r>
            <a:endParaRPr lang="en-US" sz="1150" dirty="0"/>
          </a:p>
        </p:txBody>
      </p:sp>
      <p:sp>
        <p:nvSpPr>
          <p:cNvPr id="13" name="Shape 11"/>
          <p:cNvSpPr/>
          <p:nvPr/>
        </p:nvSpPr>
        <p:spPr>
          <a:xfrm>
            <a:off x="801410" y="2848332"/>
            <a:ext cx="13030081" cy="427673"/>
          </a:xfrm>
          <a:prstGeom prst="rect">
            <a:avLst/>
          </a:prstGeom>
          <a:solidFill>
            <a:srgbClr val="000000">
              <a:alpha val="4000"/>
            </a:srgbClr>
          </a:solidFill>
          <a:ln/>
        </p:spPr>
        <p:txBody>
          <a:bodyPr/>
          <a:lstStyle/>
          <a:p>
            <a:endParaRPr lang="zh-CN" altLang="en-US"/>
          </a:p>
        </p:txBody>
      </p:sp>
      <p:sp>
        <p:nvSpPr>
          <p:cNvPr id="14" name="Text 12"/>
          <p:cNvSpPr/>
          <p:nvPr/>
        </p:nvSpPr>
        <p:spPr>
          <a:xfrm>
            <a:off x="949404" y="2944297"/>
            <a:ext cx="187297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Mean Score</a:t>
            </a:r>
            <a:endParaRPr lang="en-US" sz="1150" dirty="0"/>
          </a:p>
        </p:txBody>
      </p:sp>
      <p:sp>
        <p:nvSpPr>
          <p:cNvPr id="15" name="Text 13"/>
          <p:cNvSpPr/>
          <p:nvPr/>
        </p:nvSpPr>
        <p:spPr>
          <a:xfrm>
            <a:off x="3124795" y="2944297"/>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3.06</a:t>
            </a:r>
            <a:endParaRPr lang="en-US" sz="1150" dirty="0"/>
          </a:p>
        </p:txBody>
      </p:sp>
      <p:sp>
        <p:nvSpPr>
          <p:cNvPr id="16" name="Text 14"/>
          <p:cNvSpPr/>
          <p:nvPr/>
        </p:nvSpPr>
        <p:spPr>
          <a:xfrm>
            <a:off x="5296376" y="2944297"/>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2.73</a:t>
            </a:r>
            <a:endParaRPr lang="en-US" sz="1150" dirty="0"/>
          </a:p>
        </p:txBody>
      </p:sp>
      <p:sp>
        <p:nvSpPr>
          <p:cNvPr id="17" name="Text 15"/>
          <p:cNvSpPr/>
          <p:nvPr/>
        </p:nvSpPr>
        <p:spPr>
          <a:xfrm>
            <a:off x="7467957" y="2944297"/>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t=2.6595</a:t>
            </a:r>
            <a:endParaRPr lang="en-US" sz="1150" dirty="0"/>
          </a:p>
        </p:txBody>
      </p:sp>
      <p:sp>
        <p:nvSpPr>
          <p:cNvPr id="18" name="Text 16"/>
          <p:cNvSpPr/>
          <p:nvPr/>
        </p:nvSpPr>
        <p:spPr>
          <a:xfrm>
            <a:off x="9639538" y="2944297"/>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0.0081</a:t>
            </a:r>
            <a:endParaRPr lang="en-US" sz="1150" dirty="0"/>
          </a:p>
        </p:txBody>
      </p:sp>
      <p:sp>
        <p:nvSpPr>
          <p:cNvPr id="19" name="Text 17"/>
          <p:cNvSpPr/>
          <p:nvPr/>
        </p:nvSpPr>
        <p:spPr>
          <a:xfrm>
            <a:off x="11811119" y="2944297"/>
            <a:ext cx="187297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Significant</a:t>
            </a:r>
            <a:r>
              <a:rPr lang="en-US" sz="1150" dirty="0">
                <a:solidFill>
                  <a:srgbClr val="DAD1E6"/>
                </a:solidFill>
                <a:latin typeface="Fira Sans" pitchFamily="34" charset="0"/>
                <a:ea typeface="Fira Sans" pitchFamily="34" charset="-122"/>
                <a:cs typeface="Fira Sans" pitchFamily="34" charset="-120"/>
              </a:rPr>
              <a:t> (A &gt; B)</a:t>
            </a:r>
            <a:endParaRPr lang="en-US" sz="1150" dirty="0"/>
          </a:p>
        </p:txBody>
      </p:sp>
      <p:sp>
        <p:nvSpPr>
          <p:cNvPr id="20" name="Shape 18"/>
          <p:cNvSpPr/>
          <p:nvPr/>
        </p:nvSpPr>
        <p:spPr>
          <a:xfrm>
            <a:off x="801410" y="3276005"/>
            <a:ext cx="13042821" cy="663416"/>
          </a:xfrm>
          <a:prstGeom prst="rect">
            <a:avLst/>
          </a:prstGeom>
          <a:solidFill>
            <a:srgbClr val="FFFFFF">
              <a:alpha val="4000"/>
            </a:srgbClr>
          </a:solidFill>
          <a:ln/>
        </p:spPr>
        <p:txBody>
          <a:bodyPr/>
          <a:lstStyle/>
          <a:p>
            <a:endParaRPr lang="zh-CN" altLang="en-US"/>
          </a:p>
        </p:txBody>
      </p:sp>
      <p:sp>
        <p:nvSpPr>
          <p:cNvPr id="21" name="Text 19"/>
          <p:cNvSpPr/>
          <p:nvPr/>
        </p:nvSpPr>
        <p:spPr>
          <a:xfrm>
            <a:off x="949404" y="3371969"/>
            <a:ext cx="1872972" cy="471488"/>
          </a:xfrm>
          <a:prstGeom prst="rect">
            <a:avLst/>
          </a:prstGeom>
          <a:noFill/>
          <a:ln/>
        </p:spPr>
        <p:txBody>
          <a:bodyPr wrap="squar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High Response Proportion (4 or 5)</a:t>
            </a:r>
            <a:endParaRPr lang="en-US" sz="1150" dirty="0"/>
          </a:p>
        </p:txBody>
      </p:sp>
      <p:sp>
        <p:nvSpPr>
          <p:cNvPr id="22" name="Text 20"/>
          <p:cNvSpPr/>
          <p:nvPr/>
        </p:nvSpPr>
        <p:spPr>
          <a:xfrm>
            <a:off x="3124795" y="3371969"/>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40.08%</a:t>
            </a:r>
            <a:endParaRPr lang="en-US" sz="1150" dirty="0"/>
          </a:p>
        </p:txBody>
      </p:sp>
      <p:sp>
        <p:nvSpPr>
          <p:cNvPr id="23" name="Text 21"/>
          <p:cNvSpPr/>
          <p:nvPr/>
        </p:nvSpPr>
        <p:spPr>
          <a:xfrm>
            <a:off x="5296376" y="3371969"/>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30.56%</a:t>
            </a:r>
            <a:endParaRPr lang="en-US" sz="1150" dirty="0"/>
          </a:p>
        </p:txBody>
      </p:sp>
      <p:sp>
        <p:nvSpPr>
          <p:cNvPr id="24" name="Text 22"/>
          <p:cNvSpPr/>
          <p:nvPr/>
        </p:nvSpPr>
        <p:spPr>
          <a:xfrm>
            <a:off x="7467957" y="3371969"/>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z=2.2367</a:t>
            </a:r>
            <a:endParaRPr lang="en-US" sz="1150" dirty="0"/>
          </a:p>
        </p:txBody>
      </p:sp>
      <p:sp>
        <p:nvSpPr>
          <p:cNvPr id="25" name="Text 23"/>
          <p:cNvSpPr/>
          <p:nvPr/>
        </p:nvSpPr>
        <p:spPr>
          <a:xfrm>
            <a:off x="9639538" y="3371969"/>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0.0253</a:t>
            </a:r>
            <a:endParaRPr lang="en-US" sz="1150" dirty="0"/>
          </a:p>
        </p:txBody>
      </p:sp>
      <p:sp>
        <p:nvSpPr>
          <p:cNvPr id="26" name="Text 24"/>
          <p:cNvSpPr/>
          <p:nvPr/>
        </p:nvSpPr>
        <p:spPr>
          <a:xfrm>
            <a:off x="11811119" y="3371969"/>
            <a:ext cx="187297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Significant</a:t>
            </a:r>
            <a:r>
              <a:rPr lang="en-US" sz="1150" dirty="0">
                <a:solidFill>
                  <a:srgbClr val="DAD1E6"/>
                </a:solidFill>
                <a:latin typeface="Fira Sans" pitchFamily="34" charset="0"/>
                <a:ea typeface="Fira Sans" pitchFamily="34" charset="-122"/>
                <a:cs typeface="Fira Sans" pitchFamily="34" charset="-120"/>
              </a:rPr>
              <a:t> (A &gt; B)</a:t>
            </a:r>
            <a:endParaRPr lang="en-US" sz="1150" dirty="0"/>
          </a:p>
        </p:txBody>
      </p:sp>
      <p:sp>
        <p:nvSpPr>
          <p:cNvPr id="27" name="Shape 25"/>
          <p:cNvSpPr/>
          <p:nvPr/>
        </p:nvSpPr>
        <p:spPr>
          <a:xfrm>
            <a:off x="801410" y="3939421"/>
            <a:ext cx="13030081" cy="663416"/>
          </a:xfrm>
          <a:prstGeom prst="rect">
            <a:avLst/>
          </a:prstGeom>
          <a:solidFill>
            <a:srgbClr val="000000">
              <a:alpha val="4000"/>
            </a:srgbClr>
          </a:solidFill>
          <a:ln/>
        </p:spPr>
        <p:txBody>
          <a:bodyPr/>
          <a:lstStyle/>
          <a:p>
            <a:endParaRPr lang="zh-CN" altLang="en-US"/>
          </a:p>
        </p:txBody>
      </p:sp>
      <p:sp>
        <p:nvSpPr>
          <p:cNvPr id="28" name="Text 26"/>
          <p:cNvSpPr/>
          <p:nvPr/>
        </p:nvSpPr>
        <p:spPr>
          <a:xfrm>
            <a:off x="949404" y="4035385"/>
            <a:ext cx="1872972" cy="471488"/>
          </a:xfrm>
          <a:prstGeom prst="rect">
            <a:avLst/>
          </a:prstGeom>
          <a:noFill/>
          <a:ln/>
        </p:spPr>
        <p:txBody>
          <a:bodyPr wrap="squar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Likelihood to Take Next Step</a:t>
            </a:r>
            <a:endParaRPr lang="en-US" sz="1150" dirty="0"/>
          </a:p>
        </p:txBody>
      </p:sp>
      <p:sp>
        <p:nvSpPr>
          <p:cNvPr id="29" name="Text 27"/>
          <p:cNvSpPr/>
          <p:nvPr/>
        </p:nvSpPr>
        <p:spPr>
          <a:xfrm>
            <a:off x="3124795" y="4035385"/>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2.98</a:t>
            </a:r>
            <a:endParaRPr lang="en-US" sz="1150" dirty="0"/>
          </a:p>
        </p:txBody>
      </p:sp>
      <p:sp>
        <p:nvSpPr>
          <p:cNvPr id="30" name="Text 28"/>
          <p:cNvSpPr/>
          <p:nvPr/>
        </p:nvSpPr>
        <p:spPr>
          <a:xfrm>
            <a:off x="5296376" y="4035385"/>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2.98</a:t>
            </a:r>
            <a:endParaRPr lang="en-US" sz="1150" dirty="0"/>
          </a:p>
        </p:txBody>
      </p:sp>
      <p:sp>
        <p:nvSpPr>
          <p:cNvPr id="31" name="Text 29"/>
          <p:cNvSpPr/>
          <p:nvPr/>
        </p:nvSpPr>
        <p:spPr>
          <a:xfrm>
            <a:off x="7467957" y="4035385"/>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p=1.0000</a:t>
            </a:r>
            <a:endParaRPr lang="en-US" sz="1150" dirty="0"/>
          </a:p>
        </p:txBody>
      </p:sp>
      <p:sp>
        <p:nvSpPr>
          <p:cNvPr id="32" name="Text 30"/>
          <p:cNvSpPr/>
          <p:nvPr/>
        </p:nvSpPr>
        <p:spPr>
          <a:xfrm>
            <a:off x="9639538" y="4035385"/>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1.0000</a:t>
            </a:r>
            <a:endParaRPr lang="en-US" sz="1150" dirty="0"/>
          </a:p>
        </p:txBody>
      </p:sp>
      <p:sp>
        <p:nvSpPr>
          <p:cNvPr id="33" name="Text 31"/>
          <p:cNvSpPr/>
          <p:nvPr/>
        </p:nvSpPr>
        <p:spPr>
          <a:xfrm>
            <a:off x="11811119" y="4035385"/>
            <a:ext cx="187297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Not Significant</a:t>
            </a:r>
            <a:endParaRPr lang="en-US" sz="1150" dirty="0"/>
          </a:p>
        </p:txBody>
      </p:sp>
      <p:sp>
        <p:nvSpPr>
          <p:cNvPr id="34" name="Text 32"/>
          <p:cNvSpPr/>
          <p:nvPr/>
        </p:nvSpPr>
        <p:spPr>
          <a:xfrm>
            <a:off x="793790" y="4831556"/>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F94CAF"/>
                </a:solidFill>
                <a:latin typeface="Inconsolata Bold" pitchFamily="34" charset="0"/>
                <a:ea typeface="Inconsolata Bold" pitchFamily="34" charset="-122"/>
                <a:cs typeface="Inconsolata Bold" pitchFamily="34" charset="-120"/>
              </a:rPr>
              <a:t>Female Respondents:</a:t>
            </a:r>
            <a:endParaRPr lang="en-US" sz="1450" dirty="0"/>
          </a:p>
        </p:txBody>
      </p:sp>
      <p:sp>
        <p:nvSpPr>
          <p:cNvPr id="35" name="Shape 33"/>
          <p:cNvSpPr/>
          <p:nvPr/>
        </p:nvSpPr>
        <p:spPr>
          <a:xfrm>
            <a:off x="793790" y="5283041"/>
            <a:ext cx="13042821" cy="2197418"/>
          </a:xfrm>
          <a:prstGeom prst="roundRect">
            <a:avLst>
              <a:gd name="adj" fmla="val 1006"/>
            </a:avLst>
          </a:prstGeom>
          <a:noFill/>
          <a:ln w="7620">
            <a:solidFill>
              <a:srgbClr val="FFFFFF">
                <a:alpha val="24000"/>
              </a:srgbClr>
            </a:solidFill>
            <a:prstDash val="solid"/>
          </a:ln>
        </p:spPr>
        <p:txBody>
          <a:bodyPr/>
          <a:lstStyle/>
          <a:p>
            <a:endParaRPr lang="zh-CN" altLang="en-US"/>
          </a:p>
        </p:txBody>
      </p:sp>
      <p:sp>
        <p:nvSpPr>
          <p:cNvPr id="36" name="Shape 34"/>
          <p:cNvSpPr/>
          <p:nvPr/>
        </p:nvSpPr>
        <p:spPr>
          <a:xfrm>
            <a:off x="801410" y="5290661"/>
            <a:ext cx="13030081" cy="427673"/>
          </a:xfrm>
          <a:prstGeom prst="rect">
            <a:avLst/>
          </a:prstGeom>
          <a:solidFill>
            <a:srgbClr val="FFFFFF">
              <a:alpha val="4000"/>
            </a:srgbClr>
          </a:solidFill>
          <a:ln/>
        </p:spPr>
        <p:txBody>
          <a:bodyPr/>
          <a:lstStyle/>
          <a:p>
            <a:endParaRPr lang="zh-CN" altLang="en-US"/>
          </a:p>
        </p:txBody>
      </p:sp>
      <p:sp>
        <p:nvSpPr>
          <p:cNvPr id="37" name="Text 35"/>
          <p:cNvSpPr/>
          <p:nvPr/>
        </p:nvSpPr>
        <p:spPr>
          <a:xfrm>
            <a:off x="949404" y="5386626"/>
            <a:ext cx="187297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Metric</a:t>
            </a:r>
            <a:endParaRPr lang="en-US" sz="1150" dirty="0"/>
          </a:p>
        </p:txBody>
      </p:sp>
      <p:sp>
        <p:nvSpPr>
          <p:cNvPr id="38" name="Text 36"/>
          <p:cNvSpPr/>
          <p:nvPr/>
        </p:nvSpPr>
        <p:spPr>
          <a:xfrm>
            <a:off x="3124795" y="5386626"/>
            <a:ext cx="186916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Option A</a:t>
            </a:r>
            <a:endParaRPr lang="en-US" sz="1150" dirty="0"/>
          </a:p>
        </p:txBody>
      </p:sp>
      <p:sp>
        <p:nvSpPr>
          <p:cNvPr id="39" name="Text 37"/>
          <p:cNvSpPr/>
          <p:nvPr/>
        </p:nvSpPr>
        <p:spPr>
          <a:xfrm>
            <a:off x="5296376" y="5386626"/>
            <a:ext cx="186916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Option B</a:t>
            </a:r>
            <a:endParaRPr lang="en-US" sz="1150" dirty="0"/>
          </a:p>
        </p:txBody>
      </p:sp>
      <p:sp>
        <p:nvSpPr>
          <p:cNvPr id="40" name="Text 38"/>
          <p:cNvSpPr/>
          <p:nvPr/>
        </p:nvSpPr>
        <p:spPr>
          <a:xfrm>
            <a:off x="7467957" y="5386626"/>
            <a:ext cx="186916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T/Z-Statistic</a:t>
            </a:r>
            <a:endParaRPr lang="en-US" sz="1150" dirty="0"/>
          </a:p>
        </p:txBody>
      </p:sp>
      <p:sp>
        <p:nvSpPr>
          <p:cNvPr id="41" name="Text 39"/>
          <p:cNvSpPr/>
          <p:nvPr/>
        </p:nvSpPr>
        <p:spPr>
          <a:xfrm>
            <a:off x="9639538" y="5386626"/>
            <a:ext cx="186916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p-value</a:t>
            </a:r>
            <a:endParaRPr lang="en-US" sz="1150" dirty="0"/>
          </a:p>
        </p:txBody>
      </p:sp>
      <p:sp>
        <p:nvSpPr>
          <p:cNvPr id="42" name="Text 40"/>
          <p:cNvSpPr/>
          <p:nvPr/>
        </p:nvSpPr>
        <p:spPr>
          <a:xfrm>
            <a:off x="11811119" y="5386626"/>
            <a:ext cx="187297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Conclusion (α=0.05)</a:t>
            </a:r>
            <a:endParaRPr lang="en-US" sz="1150" dirty="0"/>
          </a:p>
        </p:txBody>
      </p:sp>
      <p:sp>
        <p:nvSpPr>
          <p:cNvPr id="43" name="Shape 41"/>
          <p:cNvSpPr/>
          <p:nvPr/>
        </p:nvSpPr>
        <p:spPr>
          <a:xfrm>
            <a:off x="801410" y="5718334"/>
            <a:ext cx="13030081" cy="427673"/>
          </a:xfrm>
          <a:prstGeom prst="rect">
            <a:avLst/>
          </a:prstGeom>
          <a:solidFill>
            <a:srgbClr val="000000">
              <a:alpha val="4000"/>
            </a:srgbClr>
          </a:solidFill>
          <a:ln/>
        </p:spPr>
        <p:txBody>
          <a:bodyPr/>
          <a:lstStyle/>
          <a:p>
            <a:endParaRPr lang="zh-CN" altLang="en-US"/>
          </a:p>
        </p:txBody>
      </p:sp>
      <p:sp>
        <p:nvSpPr>
          <p:cNvPr id="44" name="Text 42"/>
          <p:cNvSpPr/>
          <p:nvPr/>
        </p:nvSpPr>
        <p:spPr>
          <a:xfrm>
            <a:off x="949404" y="5814298"/>
            <a:ext cx="1872972" cy="235744"/>
          </a:xfrm>
          <a:prstGeom prst="rect">
            <a:avLst/>
          </a:prstGeom>
          <a:noFill/>
          <a:ln/>
        </p:spPr>
        <p:txBody>
          <a:bodyPr wrap="non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Mean Score</a:t>
            </a:r>
            <a:endParaRPr lang="en-US" sz="1150" dirty="0"/>
          </a:p>
        </p:txBody>
      </p:sp>
      <p:sp>
        <p:nvSpPr>
          <p:cNvPr id="45" name="Text 43"/>
          <p:cNvSpPr/>
          <p:nvPr/>
        </p:nvSpPr>
        <p:spPr>
          <a:xfrm>
            <a:off x="3124795" y="5814298"/>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3.00</a:t>
            </a:r>
            <a:endParaRPr lang="en-US" sz="1150" dirty="0"/>
          </a:p>
        </p:txBody>
      </p:sp>
      <p:sp>
        <p:nvSpPr>
          <p:cNvPr id="46" name="Text 44"/>
          <p:cNvSpPr/>
          <p:nvPr/>
        </p:nvSpPr>
        <p:spPr>
          <a:xfrm>
            <a:off x="5296376" y="5814298"/>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2.77</a:t>
            </a:r>
            <a:endParaRPr lang="en-US" sz="1150" dirty="0"/>
          </a:p>
        </p:txBody>
      </p:sp>
      <p:sp>
        <p:nvSpPr>
          <p:cNvPr id="47" name="Text 45"/>
          <p:cNvSpPr/>
          <p:nvPr/>
        </p:nvSpPr>
        <p:spPr>
          <a:xfrm>
            <a:off x="7467957" y="5814298"/>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t=1.7387</a:t>
            </a:r>
            <a:endParaRPr lang="en-US" sz="1150" dirty="0"/>
          </a:p>
        </p:txBody>
      </p:sp>
      <p:sp>
        <p:nvSpPr>
          <p:cNvPr id="48" name="Text 46"/>
          <p:cNvSpPr/>
          <p:nvPr/>
        </p:nvSpPr>
        <p:spPr>
          <a:xfrm>
            <a:off x="9639538" y="5814298"/>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0.0827</a:t>
            </a:r>
            <a:endParaRPr lang="en-US" sz="1150" dirty="0"/>
          </a:p>
        </p:txBody>
      </p:sp>
      <p:sp>
        <p:nvSpPr>
          <p:cNvPr id="49" name="Text 47"/>
          <p:cNvSpPr/>
          <p:nvPr/>
        </p:nvSpPr>
        <p:spPr>
          <a:xfrm>
            <a:off x="11811119" y="5814298"/>
            <a:ext cx="187297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Not Significant</a:t>
            </a:r>
            <a:endParaRPr lang="en-US" sz="1150" dirty="0"/>
          </a:p>
        </p:txBody>
      </p:sp>
      <p:sp>
        <p:nvSpPr>
          <p:cNvPr id="50" name="Shape 48"/>
          <p:cNvSpPr/>
          <p:nvPr/>
        </p:nvSpPr>
        <p:spPr>
          <a:xfrm>
            <a:off x="801411" y="6146006"/>
            <a:ext cx="13042820" cy="663416"/>
          </a:xfrm>
          <a:prstGeom prst="rect">
            <a:avLst/>
          </a:prstGeom>
          <a:solidFill>
            <a:srgbClr val="FFFFFF">
              <a:alpha val="4000"/>
            </a:srgbClr>
          </a:solidFill>
          <a:ln/>
        </p:spPr>
        <p:txBody>
          <a:bodyPr/>
          <a:lstStyle/>
          <a:p>
            <a:endParaRPr lang="zh-CN" altLang="en-US"/>
          </a:p>
        </p:txBody>
      </p:sp>
      <p:sp>
        <p:nvSpPr>
          <p:cNvPr id="51" name="Text 49"/>
          <p:cNvSpPr/>
          <p:nvPr/>
        </p:nvSpPr>
        <p:spPr>
          <a:xfrm>
            <a:off x="949404" y="6241971"/>
            <a:ext cx="1872972" cy="471488"/>
          </a:xfrm>
          <a:prstGeom prst="rect">
            <a:avLst/>
          </a:prstGeom>
          <a:noFill/>
          <a:ln/>
        </p:spPr>
        <p:txBody>
          <a:bodyPr wrap="squar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High Response Proportion (4 or 5)</a:t>
            </a:r>
            <a:endParaRPr lang="en-US" sz="1150" dirty="0"/>
          </a:p>
        </p:txBody>
      </p:sp>
      <p:sp>
        <p:nvSpPr>
          <p:cNvPr id="52" name="Text 50"/>
          <p:cNvSpPr/>
          <p:nvPr/>
        </p:nvSpPr>
        <p:spPr>
          <a:xfrm>
            <a:off x="3124795" y="6241971"/>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43.95%</a:t>
            </a:r>
            <a:endParaRPr lang="en-US" sz="1150" dirty="0"/>
          </a:p>
        </p:txBody>
      </p:sp>
      <p:sp>
        <p:nvSpPr>
          <p:cNvPr id="53" name="Text 51"/>
          <p:cNvSpPr/>
          <p:nvPr/>
        </p:nvSpPr>
        <p:spPr>
          <a:xfrm>
            <a:off x="5296376" y="6241971"/>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36.29%</a:t>
            </a:r>
            <a:endParaRPr lang="en-US" sz="1150" dirty="0"/>
          </a:p>
        </p:txBody>
      </p:sp>
      <p:sp>
        <p:nvSpPr>
          <p:cNvPr id="54" name="Text 52"/>
          <p:cNvSpPr/>
          <p:nvPr/>
        </p:nvSpPr>
        <p:spPr>
          <a:xfrm>
            <a:off x="7467957" y="6241971"/>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z=1.7406</a:t>
            </a:r>
            <a:endParaRPr lang="en-US" sz="1150" dirty="0"/>
          </a:p>
        </p:txBody>
      </p:sp>
      <p:sp>
        <p:nvSpPr>
          <p:cNvPr id="55" name="Text 53"/>
          <p:cNvSpPr/>
          <p:nvPr/>
        </p:nvSpPr>
        <p:spPr>
          <a:xfrm>
            <a:off x="9639538" y="6241971"/>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0.0818</a:t>
            </a:r>
            <a:endParaRPr lang="en-US" sz="1150" dirty="0"/>
          </a:p>
        </p:txBody>
      </p:sp>
      <p:sp>
        <p:nvSpPr>
          <p:cNvPr id="56" name="Text 54"/>
          <p:cNvSpPr/>
          <p:nvPr/>
        </p:nvSpPr>
        <p:spPr>
          <a:xfrm>
            <a:off x="11811119" y="6241971"/>
            <a:ext cx="187297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Not Significant</a:t>
            </a:r>
            <a:endParaRPr lang="en-US" sz="1150" dirty="0"/>
          </a:p>
        </p:txBody>
      </p:sp>
      <p:sp>
        <p:nvSpPr>
          <p:cNvPr id="57" name="Shape 55"/>
          <p:cNvSpPr/>
          <p:nvPr/>
        </p:nvSpPr>
        <p:spPr>
          <a:xfrm>
            <a:off x="801411" y="6809423"/>
            <a:ext cx="8056404" cy="678656"/>
          </a:xfrm>
          <a:prstGeom prst="rect">
            <a:avLst/>
          </a:prstGeom>
          <a:solidFill>
            <a:srgbClr val="000000">
              <a:alpha val="4000"/>
            </a:srgbClr>
          </a:solidFill>
          <a:ln/>
        </p:spPr>
        <p:txBody>
          <a:bodyPr/>
          <a:lstStyle/>
          <a:p>
            <a:endParaRPr lang="zh-CN" altLang="en-US"/>
          </a:p>
        </p:txBody>
      </p:sp>
      <p:sp>
        <p:nvSpPr>
          <p:cNvPr id="58" name="Text 56"/>
          <p:cNvSpPr/>
          <p:nvPr/>
        </p:nvSpPr>
        <p:spPr>
          <a:xfrm>
            <a:off x="949404" y="6905387"/>
            <a:ext cx="1872972" cy="471488"/>
          </a:xfrm>
          <a:prstGeom prst="rect">
            <a:avLst/>
          </a:prstGeom>
          <a:noFill/>
          <a:ln/>
        </p:spPr>
        <p:txBody>
          <a:bodyPr wrap="square" lIns="0" tIns="0" rIns="0" bIns="0" rtlCol="0" anchor="t"/>
          <a:lstStyle/>
          <a:p>
            <a:pPr marL="0" indent="0" algn="l">
              <a:lnSpc>
                <a:spcPts val="1850"/>
              </a:lnSpc>
              <a:buNone/>
            </a:pPr>
            <a:r>
              <a:rPr lang="en-US" sz="1150" b="1" dirty="0">
                <a:solidFill>
                  <a:srgbClr val="DAD1E6"/>
                </a:solidFill>
                <a:latin typeface="Fira Sans" pitchFamily="34" charset="0"/>
                <a:ea typeface="Fira Sans" pitchFamily="34" charset="-122"/>
                <a:cs typeface="Fira Sans" pitchFamily="34" charset="-120"/>
              </a:rPr>
              <a:t>Likelihood to Take Next Step</a:t>
            </a:r>
            <a:endParaRPr lang="en-US" sz="1150" dirty="0"/>
          </a:p>
        </p:txBody>
      </p:sp>
      <p:sp>
        <p:nvSpPr>
          <p:cNvPr id="59" name="Text 57"/>
          <p:cNvSpPr/>
          <p:nvPr/>
        </p:nvSpPr>
        <p:spPr>
          <a:xfrm>
            <a:off x="3124795" y="6905387"/>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3.15</a:t>
            </a:r>
            <a:endParaRPr lang="en-US" sz="1150" dirty="0"/>
          </a:p>
        </p:txBody>
      </p:sp>
      <p:sp>
        <p:nvSpPr>
          <p:cNvPr id="60" name="Text 58"/>
          <p:cNvSpPr/>
          <p:nvPr/>
        </p:nvSpPr>
        <p:spPr>
          <a:xfrm>
            <a:off x="5296376" y="6905387"/>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3.15</a:t>
            </a:r>
            <a:endParaRPr lang="en-US" sz="1150" dirty="0"/>
          </a:p>
        </p:txBody>
      </p:sp>
      <p:sp>
        <p:nvSpPr>
          <p:cNvPr id="61" name="Text 59"/>
          <p:cNvSpPr/>
          <p:nvPr/>
        </p:nvSpPr>
        <p:spPr>
          <a:xfrm>
            <a:off x="7467957" y="6905387"/>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p=1.0000</a:t>
            </a:r>
            <a:endParaRPr lang="en-US" sz="1150" dirty="0"/>
          </a:p>
        </p:txBody>
      </p:sp>
      <p:sp>
        <p:nvSpPr>
          <p:cNvPr id="62" name="Text 60"/>
          <p:cNvSpPr/>
          <p:nvPr/>
        </p:nvSpPr>
        <p:spPr>
          <a:xfrm>
            <a:off x="9639538" y="6905387"/>
            <a:ext cx="186916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1.0000</a:t>
            </a:r>
            <a:endParaRPr lang="en-US" sz="1150" dirty="0"/>
          </a:p>
        </p:txBody>
      </p:sp>
      <p:sp>
        <p:nvSpPr>
          <p:cNvPr id="63" name="Text 61"/>
          <p:cNvSpPr/>
          <p:nvPr/>
        </p:nvSpPr>
        <p:spPr>
          <a:xfrm>
            <a:off x="11811119" y="6905387"/>
            <a:ext cx="1872972" cy="235744"/>
          </a:xfrm>
          <a:prstGeom prst="rect">
            <a:avLst/>
          </a:prstGeom>
          <a:noFill/>
          <a:ln/>
        </p:spPr>
        <p:txBody>
          <a:bodyPr wrap="none" lIns="0" tIns="0" rIns="0" bIns="0" rtlCol="0" anchor="t"/>
          <a:lstStyle/>
          <a:p>
            <a:pPr marL="0" indent="0" algn="l">
              <a:lnSpc>
                <a:spcPts val="1850"/>
              </a:lnSpc>
              <a:buNone/>
            </a:pPr>
            <a:r>
              <a:rPr lang="en-US" sz="1150" dirty="0">
                <a:solidFill>
                  <a:srgbClr val="DAD1E6"/>
                </a:solidFill>
                <a:latin typeface="Fira Sans" pitchFamily="34" charset="0"/>
                <a:ea typeface="Fira Sans" pitchFamily="34" charset="-122"/>
                <a:cs typeface="Fira Sans" pitchFamily="34" charset="-120"/>
              </a:rPr>
              <a:t>Not Significant</a:t>
            </a:r>
            <a:endParaRPr lang="en-US" sz="1150" dirty="0"/>
          </a:p>
        </p:txBody>
      </p:sp>
      <p:pic>
        <p:nvPicPr>
          <p:cNvPr id="64" name="图片 63">
            <a:extLst>
              <a:ext uri="{FF2B5EF4-FFF2-40B4-BE49-F238E27FC236}">
                <a16:creationId xmlns:a16="http://schemas.microsoft.com/office/drawing/2014/main" id="{E9BA0A08-432B-EE19-EC14-476CE28F5CE1}"/>
              </a:ext>
            </a:extLst>
          </p:cNvPr>
          <p:cNvPicPr>
            <a:picLocks noChangeAspect="1"/>
          </p:cNvPicPr>
          <p:nvPr/>
        </p:nvPicPr>
        <p:blipFill>
          <a:blip r:embed="rId3"/>
          <a:stretch>
            <a:fillRect/>
          </a:stretch>
        </p:blipFill>
        <p:spPr>
          <a:xfrm>
            <a:off x="12878381" y="7683818"/>
            <a:ext cx="1664811" cy="5192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0537A-3FC3-527A-233F-3FF1BBFB14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9978112-BF4B-4347-49AF-5EB26E1A09A0}"/>
              </a:ext>
            </a:extLst>
          </p:cNvPr>
          <p:cNvSpPr/>
          <p:nvPr/>
        </p:nvSpPr>
        <p:spPr>
          <a:xfrm>
            <a:off x="788670" y="794224"/>
            <a:ext cx="4789051" cy="598527"/>
          </a:xfrm>
          <a:prstGeom prst="rect">
            <a:avLst/>
          </a:prstGeom>
          <a:noFill/>
          <a:ln/>
        </p:spPr>
        <p:txBody>
          <a:bodyPr wrap="none" lIns="0" tIns="0" rIns="0" bIns="0" rtlCol="0" anchor="t"/>
          <a:lstStyle/>
          <a:p>
            <a:pPr>
              <a:lnSpc>
                <a:spcPts val="3600"/>
              </a:lnSpc>
            </a:pPr>
            <a:r>
              <a:rPr lang="en-US" altLang="zh-CN" sz="2800" b="1" dirty="0">
                <a:solidFill>
                  <a:srgbClr val="F94CAF"/>
                </a:solidFill>
                <a:latin typeface="Inconsolata Bold" pitchFamily="34" charset="0"/>
                <a:ea typeface="Inconsolata Bold" pitchFamily="34" charset="-122"/>
                <a:cs typeface="Inconsolata Bold" pitchFamily="34" charset="-120"/>
              </a:rPr>
              <a:t>Subgroup Analysis: Gender Differences</a:t>
            </a:r>
            <a:endParaRPr lang="en-US" altLang="zh-CN" sz="2800" dirty="0"/>
          </a:p>
        </p:txBody>
      </p:sp>
      <p:pic>
        <p:nvPicPr>
          <p:cNvPr id="4" name="图片 3" descr="图表, 条形图&#10;&#10;AI 生成的内容可能不正确。">
            <a:extLst>
              <a:ext uri="{FF2B5EF4-FFF2-40B4-BE49-F238E27FC236}">
                <a16:creationId xmlns:a16="http://schemas.microsoft.com/office/drawing/2014/main" id="{3EA32011-03EE-731B-28C8-017AF112C315}"/>
              </a:ext>
            </a:extLst>
          </p:cNvPr>
          <p:cNvPicPr>
            <a:picLocks noChangeAspect="1"/>
          </p:cNvPicPr>
          <p:nvPr/>
        </p:nvPicPr>
        <p:blipFill>
          <a:blip r:embed="rId3"/>
          <a:stretch>
            <a:fillRect/>
          </a:stretch>
        </p:blipFill>
        <p:spPr>
          <a:xfrm>
            <a:off x="768309" y="1905256"/>
            <a:ext cx="6515435" cy="5131064"/>
          </a:xfrm>
          <a:prstGeom prst="rect">
            <a:avLst/>
          </a:prstGeom>
        </p:spPr>
      </p:pic>
      <p:sp>
        <p:nvSpPr>
          <p:cNvPr id="5" name="Text 1">
            <a:extLst>
              <a:ext uri="{FF2B5EF4-FFF2-40B4-BE49-F238E27FC236}">
                <a16:creationId xmlns:a16="http://schemas.microsoft.com/office/drawing/2014/main" id="{5ED6B7F3-95F9-8105-A8A8-51E583A16F48}"/>
              </a:ext>
            </a:extLst>
          </p:cNvPr>
          <p:cNvSpPr/>
          <p:nvPr/>
        </p:nvSpPr>
        <p:spPr>
          <a:xfrm>
            <a:off x="7747969" y="1875115"/>
            <a:ext cx="6088642" cy="3806729"/>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The stronger performance of Option A is primarily driven by male respondents, who found its design clearer and more trustworthy. </a:t>
            </a:r>
          </a:p>
          <a:p>
            <a:pPr marL="0" indent="0" algn="l">
              <a:lnSpc>
                <a:spcPts val="2850"/>
              </a:lnSpc>
              <a:buNone/>
            </a:pPr>
            <a:endParaRPr lang="en-US" sz="1750" dirty="0">
              <a:solidFill>
                <a:srgbClr val="DAD1E6"/>
              </a:solidFill>
              <a:latin typeface="Fira Sans" pitchFamily="34" charset="0"/>
              <a:ea typeface="Fira Sans" pitchFamily="34" charset="-122"/>
              <a:cs typeface="Fira Sans" pitchFamily="34" charset="-120"/>
            </a:endParaRPr>
          </a:p>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Female respondents showed similar reactions to both versions, indicating that while Option A appeals broadly, its strongest pull is among men.</a:t>
            </a:r>
          </a:p>
          <a:p>
            <a:pPr marL="0" indent="0" algn="l">
              <a:lnSpc>
                <a:spcPts val="2850"/>
              </a:lnSpc>
              <a:buNone/>
            </a:pPr>
            <a:endParaRPr lang="en-US" sz="1750" dirty="0">
              <a:solidFill>
                <a:srgbClr val="DAD1E6"/>
              </a:solidFill>
              <a:latin typeface="Fira Sans" pitchFamily="34" charset="0"/>
              <a:ea typeface="Fira Sans" pitchFamily="34" charset="-122"/>
              <a:cs typeface="Fira Sans" pitchFamily="34" charset="-120"/>
            </a:endParaRPr>
          </a:p>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 This highlights the importance of considering visual tone and style in gender-specific messaging.</a:t>
            </a:r>
          </a:p>
          <a:p>
            <a:pPr marL="0" indent="0" algn="l">
              <a:lnSpc>
                <a:spcPts val="2850"/>
              </a:lnSpc>
              <a:buNone/>
            </a:pPr>
            <a:endParaRPr lang="en-US" sz="1750" dirty="0">
              <a:solidFill>
                <a:srgbClr val="DAD1E6"/>
              </a:solidFill>
              <a:latin typeface="Fira Sans" pitchFamily="34" charset="0"/>
            </a:endParaRPr>
          </a:p>
          <a:p>
            <a:pPr marL="0" indent="0" algn="l">
              <a:lnSpc>
                <a:spcPts val="2850"/>
              </a:lnSpc>
              <a:buNone/>
            </a:pPr>
            <a:endParaRPr lang="en-US" sz="1750" dirty="0"/>
          </a:p>
        </p:txBody>
      </p:sp>
      <p:pic>
        <p:nvPicPr>
          <p:cNvPr id="6" name="图片 5">
            <a:extLst>
              <a:ext uri="{FF2B5EF4-FFF2-40B4-BE49-F238E27FC236}">
                <a16:creationId xmlns:a16="http://schemas.microsoft.com/office/drawing/2014/main" id="{D59796B1-9BC5-79D2-6A02-C9137EEB8C4A}"/>
              </a:ext>
            </a:extLst>
          </p:cNvPr>
          <p:cNvPicPr>
            <a:picLocks noChangeAspect="1"/>
          </p:cNvPicPr>
          <p:nvPr/>
        </p:nvPicPr>
        <p:blipFill>
          <a:blip r:embed="rId4"/>
          <a:stretch>
            <a:fillRect/>
          </a:stretch>
        </p:blipFill>
        <p:spPr>
          <a:xfrm>
            <a:off x="12878381" y="7683818"/>
            <a:ext cx="1664811" cy="519262"/>
          </a:xfrm>
          <a:prstGeom prst="rect">
            <a:avLst/>
          </a:prstGeom>
        </p:spPr>
      </p:pic>
    </p:spTree>
    <p:extLst>
      <p:ext uri="{BB962C8B-B14F-4D97-AF65-F5344CB8AC3E}">
        <p14:creationId xmlns:p14="http://schemas.microsoft.com/office/powerpoint/2010/main" val="2441359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12BE2-91F6-B4BA-81BF-A94C982CEA8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C81070-7A7E-1637-86DB-BEE514F165B8}"/>
              </a:ext>
            </a:extLst>
          </p:cNvPr>
          <p:cNvSpPr/>
          <p:nvPr/>
        </p:nvSpPr>
        <p:spPr>
          <a:xfrm>
            <a:off x="788670" y="619720"/>
            <a:ext cx="4789051" cy="598527"/>
          </a:xfrm>
          <a:prstGeom prst="rect">
            <a:avLst/>
          </a:prstGeom>
          <a:noFill/>
          <a:ln/>
        </p:spPr>
        <p:txBody>
          <a:bodyPr wrap="none" lIns="0" tIns="0" rIns="0" bIns="0" rtlCol="0" anchor="t"/>
          <a:lstStyle/>
          <a:p>
            <a:pPr marL="0" indent="0" algn="l">
              <a:lnSpc>
                <a:spcPts val="4700"/>
              </a:lnSpc>
              <a:buNone/>
            </a:pPr>
            <a:r>
              <a:rPr lang="en-US" sz="3750" b="1" dirty="0">
                <a:solidFill>
                  <a:srgbClr val="F94CAF"/>
                </a:solidFill>
                <a:latin typeface="Inconsolata Bold" pitchFamily="34" charset="0"/>
                <a:ea typeface="Inconsolata Bold" pitchFamily="34" charset="-122"/>
                <a:cs typeface="Inconsolata Bold" pitchFamily="34" charset="-120"/>
              </a:rPr>
              <a:t>Key Insights</a:t>
            </a:r>
            <a:endParaRPr lang="en-US" sz="3750" dirty="0"/>
          </a:p>
        </p:txBody>
      </p:sp>
      <p:sp>
        <p:nvSpPr>
          <p:cNvPr id="3" name="Text 1">
            <a:extLst>
              <a:ext uri="{FF2B5EF4-FFF2-40B4-BE49-F238E27FC236}">
                <a16:creationId xmlns:a16="http://schemas.microsoft.com/office/drawing/2014/main" id="{A404146A-D537-E9EC-E9FA-931142446E0B}"/>
              </a:ext>
            </a:extLst>
          </p:cNvPr>
          <p:cNvSpPr/>
          <p:nvPr/>
        </p:nvSpPr>
        <p:spPr>
          <a:xfrm>
            <a:off x="788670" y="1601272"/>
            <a:ext cx="13053060" cy="306467"/>
          </a:xfrm>
          <a:prstGeom prst="rect">
            <a:avLst/>
          </a:prstGeom>
          <a:noFill/>
          <a:ln/>
        </p:spPr>
        <p:txBody>
          <a:bodyPr wrap="none" lIns="0" tIns="0" rIns="0" bIns="0" rtlCol="0" anchor="t"/>
          <a:lstStyle/>
          <a:p>
            <a:pPr marL="0" indent="0" algn="l">
              <a:lnSpc>
                <a:spcPts val="2400"/>
              </a:lnSpc>
              <a:buNone/>
            </a:pPr>
            <a:r>
              <a:rPr lang="en-US" sz="1500" b="1" dirty="0">
                <a:solidFill>
                  <a:srgbClr val="DAD1E6"/>
                </a:solidFill>
                <a:latin typeface="Fira Sans" pitchFamily="34" charset="0"/>
                <a:ea typeface="Fira Sans" pitchFamily="34" charset="-122"/>
                <a:cs typeface="Fira Sans" pitchFamily="34" charset="-120"/>
              </a:rPr>
              <a:t>Option A outperformed Option B</a:t>
            </a:r>
            <a:r>
              <a:rPr lang="en-US" sz="1500" dirty="0">
                <a:solidFill>
                  <a:srgbClr val="DAD1E6"/>
                </a:solidFill>
                <a:latin typeface="Fira Sans" pitchFamily="34" charset="0"/>
                <a:ea typeface="Fira Sans" pitchFamily="34" charset="-122"/>
                <a:cs typeface="Fira Sans" pitchFamily="34" charset="-120"/>
              </a:rPr>
              <a:t> on </a:t>
            </a:r>
            <a:r>
              <a:rPr lang="en-US" sz="1500" i="1" dirty="0">
                <a:solidFill>
                  <a:srgbClr val="DAD1E6"/>
                </a:solidFill>
                <a:latin typeface="Fira Sans" pitchFamily="34" charset="0"/>
                <a:ea typeface="Fira Sans" pitchFamily="34" charset="-122"/>
                <a:cs typeface="Fira Sans" pitchFamily="34" charset="-120"/>
              </a:rPr>
              <a:t>Likelihood to Open</a:t>
            </a:r>
            <a:endParaRPr lang="en-US" sz="1500" dirty="0"/>
          </a:p>
        </p:txBody>
      </p:sp>
      <p:sp>
        <p:nvSpPr>
          <p:cNvPr id="4" name="Text 2">
            <a:extLst>
              <a:ext uri="{FF2B5EF4-FFF2-40B4-BE49-F238E27FC236}">
                <a16:creationId xmlns:a16="http://schemas.microsoft.com/office/drawing/2014/main" id="{BF95BD94-BE87-00AE-8D1E-7D43809B7E7A}"/>
              </a:ext>
            </a:extLst>
          </p:cNvPr>
          <p:cNvSpPr/>
          <p:nvPr/>
        </p:nvSpPr>
        <p:spPr>
          <a:xfrm>
            <a:off x="788670" y="2123242"/>
            <a:ext cx="13053060"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DAD1E6"/>
                </a:solidFill>
                <a:latin typeface="Fira Sans" pitchFamily="34" charset="0"/>
                <a:ea typeface="Fira Sans" pitchFamily="34" charset="-122"/>
                <a:cs typeface="Fira Sans" pitchFamily="34" charset="-120"/>
              </a:rPr>
              <a:t>Statistically significant difference (p &lt; 0.05)</a:t>
            </a:r>
            <a:endParaRPr lang="en-US" sz="1500" dirty="0"/>
          </a:p>
        </p:txBody>
      </p:sp>
      <p:sp>
        <p:nvSpPr>
          <p:cNvPr id="5" name="Text 3">
            <a:extLst>
              <a:ext uri="{FF2B5EF4-FFF2-40B4-BE49-F238E27FC236}">
                <a16:creationId xmlns:a16="http://schemas.microsoft.com/office/drawing/2014/main" id="{1DB7BB12-AE83-9FC4-A80F-2A4D23823C60}"/>
              </a:ext>
            </a:extLst>
          </p:cNvPr>
          <p:cNvSpPr/>
          <p:nvPr/>
        </p:nvSpPr>
        <p:spPr>
          <a:xfrm>
            <a:off x="788670" y="2645212"/>
            <a:ext cx="13053060" cy="306467"/>
          </a:xfrm>
          <a:prstGeom prst="rect">
            <a:avLst/>
          </a:prstGeom>
          <a:noFill/>
          <a:ln/>
        </p:spPr>
        <p:txBody>
          <a:bodyPr wrap="none" lIns="0" tIns="0" rIns="0" bIns="0" rtlCol="0" anchor="t"/>
          <a:lstStyle/>
          <a:p>
            <a:pPr marL="0" indent="0" algn="l">
              <a:lnSpc>
                <a:spcPts val="2400"/>
              </a:lnSpc>
              <a:buNone/>
            </a:pPr>
            <a:r>
              <a:rPr lang="en-US" sz="1500" b="1" dirty="0">
                <a:solidFill>
                  <a:srgbClr val="DAD1E6"/>
                </a:solidFill>
                <a:latin typeface="Fira Sans" pitchFamily="34" charset="0"/>
                <a:ea typeface="Fira Sans" pitchFamily="34" charset="-122"/>
                <a:cs typeface="Fira Sans" pitchFamily="34" charset="-120"/>
              </a:rPr>
              <a:t>No significant difference</a:t>
            </a:r>
            <a:r>
              <a:rPr lang="en-US" sz="1500" dirty="0">
                <a:solidFill>
                  <a:srgbClr val="DAD1E6"/>
                </a:solidFill>
                <a:latin typeface="Fira Sans" pitchFamily="34" charset="0"/>
                <a:ea typeface="Fira Sans" pitchFamily="34" charset="-122"/>
                <a:cs typeface="Fira Sans" pitchFamily="34" charset="-120"/>
              </a:rPr>
              <a:t> on </a:t>
            </a:r>
            <a:r>
              <a:rPr lang="en-US" sz="1500" i="1" dirty="0">
                <a:solidFill>
                  <a:srgbClr val="DAD1E6"/>
                </a:solidFill>
                <a:latin typeface="Fira Sans" pitchFamily="34" charset="0"/>
                <a:ea typeface="Fira Sans" pitchFamily="34" charset="-122"/>
                <a:cs typeface="Fira Sans" pitchFamily="34" charset="-120"/>
              </a:rPr>
              <a:t>Likelihood to Take Next Step</a:t>
            </a:r>
            <a:endParaRPr lang="en-US" sz="1500" dirty="0"/>
          </a:p>
        </p:txBody>
      </p:sp>
      <p:sp>
        <p:nvSpPr>
          <p:cNvPr id="6" name="Text 4">
            <a:extLst>
              <a:ext uri="{FF2B5EF4-FFF2-40B4-BE49-F238E27FC236}">
                <a16:creationId xmlns:a16="http://schemas.microsoft.com/office/drawing/2014/main" id="{1354CFDD-2FBB-8C77-DFD4-4940F17D1612}"/>
              </a:ext>
            </a:extLst>
          </p:cNvPr>
          <p:cNvSpPr/>
          <p:nvPr/>
        </p:nvSpPr>
        <p:spPr>
          <a:xfrm>
            <a:off x="788670" y="3238976"/>
            <a:ext cx="2394466" cy="299204"/>
          </a:xfrm>
          <a:prstGeom prst="rect">
            <a:avLst/>
          </a:prstGeom>
          <a:noFill/>
          <a:ln/>
        </p:spPr>
        <p:txBody>
          <a:bodyPr wrap="none" lIns="0" tIns="0" rIns="0" bIns="0" rtlCol="0" anchor="t"/>
          <a:lstStyle/>
          <a:p>
            <a:pPr marL="0" indent="0" algn="l">
              <a:lnSpc>
                <a:spcPts val="2350"/>
              </a:lnSpc>
              <a:buNone/>
            </a:pPr>
            <a:r>
              <a:rPr lang="en-US" sz="1850" b="1" dirty="0">
                <a:solidFill>
                  <a:srgbClr val="F94CAF"/>
                </a:solidFill>
                <a:latin typeface="Inconsolata Bold" pitchFamily="34" charset="0"/>
                <a:ea typeface="Inconsolata Bold" pitchFamily="34" charset="-122"/>
                <a:cs typeface="Inconsolata Bold" pitchFamily="34" charset="-120"/>
              </a:rPr>
              <a:t>Gender Analysis:</a:t>
            </a:r>
            <a:endParaRPr lang="en-US" sz="1850" dirty="0"/>
          </a:p>
        </p:txBody>
      </p:sp>
      <p:sp>
        <p:nvSpPr>
          <p:cNvPr id="7" name="Text 5">
            <a:extLst>
              <a:ext uri="{FF2B5EF4-FFF2-40B4-BE49-F238E27FC236}">
                <a16:creationId xmlns:a16="http://schemas.microsoft.com/office/drawing/2014/main" id="{EC2F9DBF-6B5D-E331-B162-9ABED3064FBB}"/>
              </a:ext>
            </a:extLst>
          </p:cNvPr>
          <p:cNvSpPr/>
          <p:nvPr/>
        </p:nvSpPr>
        <p:spPr>
          <a:xfrm>
            <a:off x="788670" y="3825478"/>
            <a:ext cx="13053060"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DAD1E6"/>
                </a:solidFill>
                <a:latin typeface="Fira Sans" pitchFamily="34" charset="0"/>
                <a:ea typeface="Fira Sans" pitchFamily="34" charset="-122"/>
                <a:cs typeface="Fira Sans" pitchFamily="34" charset="-120"/>
              </a:rPr>
              <a:t>Advantage for Option A driven primarily by male respondents</a:t>
            </a:r>
            <a:endParaRPr lang="en-US" sz="1500" dirty="0"/>
          </a:p>
        </p:txBody>
      </p:sp>
      <p:sp>
        <p:nvSpPr>
          <p:cNvPr id="8" name="Text 6">
            <a:extLst>
              <a:ext uri="{FF2B5EF4-FFF2-40B4-BE49-F238E27FC236}">
                <a16:creationId xmlns:a16="http://schemas.microsoft.com/office/drawing/2014/main" id="{9961425F-BDA4-135C-E987-70E3AD4DAB2F}"/>
              </a:ext>
            </a:extLst>
          </p:cNvPr>
          <p:cNvSpPr/>
          <p:nvPr/>
        </p:nvSpPr>
        <p:spPr>
          <a:xfrm>
            <a:off x="788670" y="4198977"/>
            <a:ext cx="13053060"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DAD1E6"/>
                </a:solidFill>
                <a:latin typeface="Fira Sans" pitchFamily="34" charset="0"/>
                <a:ea typeface="Fira Sans" pitchFamily="34" charset="-122"/>
                <a:cs typeface="Fira Sans" pitchFamily="34" charset="-120"/>
              </a:rPr>
              <a:t>Female responses showed no meaningful gap</a:t>
            </a:r>
            <a:endParaRPr lang="en-US" sz="1500" dirty="0"/>
          </a:p>
        </p:txBody>
      </p:sp>
      <p:sp>
        <p:nvSpPr>
          <p:cNvPr id="9" name="Text 7">
            <a:extLst>
              <a:ext uri="{FF2B5EF4-FFF2-40B4-BE49-F238E27FC236}">
                <a16:creationId xmlns:a16="http://schemas.microsoft.com/office/drawing/2014/main" id="{CDA87C50-4021-E149-99BA-CE01862593E8}"/>
              </a:ext>
            </a:extLst>
          </p:cNvPr>
          <p:cNvSpPr/>
          <p:nvPr/>
        </p:nvSpPr>
        <p:spPr>
          <a:xfrm>
            <a:off x="788670" y="4792742"/>
            <a:ext cx="2394466" cy="299204"/>
          </a:xfrm>
          <a:prstGeom prst="rect">
            <a:avLst/>
          </a:prstGeom>
          <a:noFill/>
          <a:ln/>
        </p:spPr>
        <p:txBody>
          <a:bodyPr wrap="none" lIns="0" tIns="0" rIns="0" bIns="0" rtlCol="0" anchor="t"/>
          <a:lstStyle/>
          <a:p>
            <a:pPr marL="0" indent="0" algn="l">
              <a:lnSpc>
                <a:spcPts val="2350"/>
              </a:lnSpc>
              <a:buNone/>
            </a:pPr>
            <a:r>
              <a:rPr lang="en-US" sz="1850" b="1" dirty="0">
                <a:solidFill>
                  <a:srgbClr val="F94CAF"/>
                </a:solidFill>
                <a:latin typeface="Inconsolata Bold" pitchFamily="34" charset="0"/>
                <a:ea typeface="Inconsolata Bold" pitchFamily="34" charset="-122"/>
                <a:cs typeface="Inconsolata Bold" pitchFamily="34" charset="-120"/>
              </a:rPr>
              <a:t>Income Analysis:</a:t>
            </a:r>
            <a:endParaRPr lang="en-US" sz="1850" dirty="0"/>
          </a:p>
        </p:txBody>
      </p:sp>
      <p:sp>
        <p:nvSpPr>
          <p:cNvPr id="10" name="Text 8">
            <a:extLst>
              <a:ext uri="{FF2B5EF4-FFF2-40B4-BE49-F238E27FC236}">
                <a16:creationId xmlns:a16="http://schemas.microsoft.com/office/drawing/2014/main" id="{7C3DB61C-4769-F1D7-74D0-9A549B75E217}"/>
              </a:ext>
            </a:extLst>
          </p:cNvPr>
          <p:cNvSpPr/>
          <p:nvPr/>
        </p:nvSpPr>
        <p:spPr>
          <a:xfrm>
            <a:off x="788670" y="5379244"/>
            <a:ext cx="13053060"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DAD1E6"/>
                </a:solidFill>
                <a:latin typeface="Fira Sans" pitchFamily="34" charset="0"/>
                <a:ea typeface="Fira Sans" pitchFamily="34" charset="-122"/>
                <a:cs typeface="Fira Sans" pitchFamily="34" charset="-120"/>
              </a:rPr>
              <a:t>Strongest effect among mid-to-high income group ($75 k – $99 k)</a:t>
            </a:r>
            <a:endParaRPr lang="en-US" sz="1500" dirty="0"/>
          </a:p>
        </p:txBody>
      </p:sp>
      <p:sp>
        <p:nvSpPr>
          <p:cNvPr id="11" name="Text 9">
            <a:extLst>
              <a:ext uri="{FF2B5EF4-FFF2-40B4-BE49-F238E27FC236}">
                <a16:creationId xmlns:a16="http://schemas.microsoft.com/office/drawing/2014/main" id="{B903E1B1-89C3-A436-3864-0BDAE27CE116}"/>
              </a:ext>
            </a:extLst>
          </p:cNvPr>
          <p:cNvSpPr/>
          <p:nvPr/>
        </p:nvSpPr>
        <p:spPr>
          <a:xfrm>
            <a:off x="788670" y="5752743"/>
            <a:ext cx="13053060"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DAD1E6"/>
                </a:solidFill>
                <a:latin typeface="Fira Sans" pitchFamily="34" charset="0"/>
                <a:ea typeface="Fira Sans" pitchFamily="34" charset="-122"/>
                <a:cs typeface="Fira Sans" pitchFamily="34" charset="-120"/>
              </a:rPr>
              <a:t>Lower-income and higher-income groups showed minimal difference</a:t>
            </a:r>
            <a:endParaRPr lang="en-US" sz="1500" dirty="0"/>
          </a:p>
        </p:txBody>
      </p:sp>
      <p:sp>
        <p:nvSpPr>
          <p:cNvPr id="12" name="Text 10">
            <a:extLst>
              <a:ext uri="{FF2B5EF4-FFF2-40B4-BE49-F238E27FC236}">
                <a16:creationId xmlns:a16="http://schemas.microsoft.com/office/drawing/2014/main" id="{8AF21D5B-4E2C-4E1E-4927-94BEF443F257}"/>
              </a:ext>
            </a:extLst>
          </p:cNvPr>
          <p:cNvSpPr/>
          <p:nvPr/>
        </p:nvSpPr>
        <p:spPr>
          <a:xfrm>
            <a:off x="788670" y="6346508"/>
            <a:ext cx="2394466" cy="299204"/>
          </a:xfrm>
          <a:prstGeom prst="rect">
            <a:avLst/>
          </a:prstGeom>
          <a:noFill/>
          <a:ln/>
        </p:spPr>
        <p:txBody>
          <a:bodyPr wrap="none" lIns="0" tIns="0" rIns="0" bIns="0" rtlCol="0" anchor="t"/>
          <a:lstStyle/>
          <a:p>
            <a:pPr marL="0" indent="0" algn="l">
              <a:lnSpc>
                <a:spcPts val="2350"/>
              </a:lnSpc>
              <a:buNone/>
            </a:pPr>
            <a:r>
              <a:rPr lang="en-US" sz="1850" b="1" dirty="0">
                <a:solidFill>
                  <a:srgbClr val="F94CAF"/>
                </a:solidFill>
                <a:latin typeface="Inconsolata Bold" pitchFamily="34" charset="0"/>
                <a:ea typeface="Inconsolata Bold" pitchFamily="34" charset="-122"/>
                <a:cs typeface="Inconsolata Bold" pitchFamily="34" charset="-120"/>
              </a:rPr>
              <a:t>Overall Conclusion:</a:t>
            </a:r>
            <a:endParaRPr lang="en-US" sz="1850" dirty="0"/>
          </a:p>
        </p:txBody>
      </p:sp>
      <p:sp>
        <p:nvSpPr>
          <p:cNvPr id="13" name="Text 11">
            <a:extLst>
              <a:ext uri="{FF2B5EF4-FFF2-40B4-BE49-F238E27FC236}">
                <a16:creationId xmlns:a16="http://schemas.microsoft.com/office/drawing/2014/main" id="{977B7B87-6A8C-E2ED-575A-1E072270088E}"/>
              </a:ext>
            </a:extLst>
          </p:cNvPr>
          <p:cNvSpPr/>
          <p:nvPr/>
        </p:nvSpPr>
        <p:spPr>
          <a:xfrm>
            <a:off x="788670" y="6933009"/>
            <a:ext cx="13053060"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DAD1E6"/>
                </a:solidFill>
                <a:latin typeface="Fira Sans" pitchFamily="34" charset="0"/>
                <a:ea typeface="Fira Sans" pitchFamily="34" charset="-122"/>
                <a:cs typeface="Fira Sans" pitchFamily="34" charset="-120"/>
              </a:rPr>
              <a:t>First-impression design (headline + envelope clarity) most influences engagement</a:t>
            </a:r>
            <a:endParaRPr lang="en-US" sz="1500" dirty="0"/>
          </a:p>
        </p:txBody>
      </p:sp>
      <p:sp>
        <p:nvSpPr>
          <p:cNvPr id="14" name="Text 12">
            <a:extLst>
              <a:ext uri="{FF2B5EF4-FFF2-40B4-BE49-F238E27FC236}">
                <a16:creationId xmlns:a16="http://schemas.microsoft.com/office/drawing/2014/main" id="{26D6EB98-674F-3C95-9DB4-E789073EA11D}"/>
              </a:ext>
            </a:extLst>
          </p:cNvPr>
          <p:cNvSpPr/>
          <p:nvPr/>
        </p:nvSpPr>
        <p:spPr>
          <a:xfrm>
            <a:off x="788670" y="7306508"/>
            <a:ext cx="13053060"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DAD1E6"/>
                </a:solidFill>
                <a:latin typeface="Fira Sans" pitchFamily="34" charset="0"/>
                <a:ea typeface="Fira Sans" pitchFamily="34" charset="-122"/>
                <a:cs typeface="Fira Sans" pitchFamily="34" charset="-120"/>
              </a:rPr>
              <a:t>Tailoring creative by gender and income segment may further lift results</a:t>
            </a:r>
            <a:endParaRPr lang="en-US" sz="1500" dirty="0"/>
          </a:p>
        </p:txBody>
      </p:sp>
      <p:pic>
        <p:nvPicPr>
          <p:cNvPr id="15" name="图片 14">
            <a:extLst>
              <a:ext uri="{FF2B5EF4-FFF2-40B4-BE49-F238E27FC236}">
                <a16:creationId xmlns:a16="http://schemas.microsoft.com/office/drawing/2014/main" id="{64F3654B-F807-982F-F941-BAC02A669D6C}"/>
              </a:ext>
            </a:extLst>
          </p:cNvPr>
          <p:cNvPicPr>
            <a:picLocks noChangeAspect="1"/>
          </p:cNvPicPr>
          <p:nvPr/>
        </p:nvPicPr>
        <p:blipFill>
          <a:blip r:embed="rId3"/>
          <a:stretch>
            <a:fillRect/>
          </a:stretch>
        </p:blipFill>
        <p:spPr>
          <a:xfrm>
            <a:off x="12878381" y="7683818"/>
            <a:ext cx="1664811" cy="519262"/>
          </a:xfrm>
          <a:prstGeom prst="rect">
            <a:avLst/>
          </a:prstGeom>
        </p:spPr>
      </p:pic>
    </p:spTree>
    <p:extLst>
      <p:ext uri="{BB962C8B-B14F-4D97-AF65-F5344CB8AC3E}">
        <p14:creationId xmlns:p14="http://schemas.microsoft.com/office/powerpoint/2010/main" val="143468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8670" y="619720"/>
            <a:ext cx="4789051" cy="598527"/>
          </a:xfrm>
          <a:prstGeom prst="rect">
            <a:avLst/>
          </a:prstGeom>
          <a:noFill/>
          <a:ln/>
        </p:spPr>
        <p:txBody>
          <a:bodyPr wrap="none" lIns="0" tIns="0" rIns="0" bIns="0" rtlCol="0" anchor="t"/>
          <a:lstStyle/>
          <a:p>
            <a:pPr marL="0" indent="0" algn="l">
              <a:lnSpc>
                <a:spcPts val="4700"/>
              </a:lnSpc>
              <a:buNone/>
            </a:pPr>
            <a:r>
              <a:rPr lang="en-US" altLang="zh-CN" sz="3750" b="1" dirty="0">
                <a:solidFill>
                  <a:srgbClr val="F94CAF"/>
                </a:solidFill>
                <a:latin typeface="Inconsolata Bold" pitchFamily="34" charset="0"/>
                <a:ea typeface="Inconsolata Bold" pitchFamily="34" charset="-122"/>
              </a:rPr>
              <a:t>Strategic Implications</a:t>
            </a:r>
            <a:endParaRPr lang="en-US" sz="3750" dirty="0"/>
          </a:p>
        </p:txBody>
      </p:sp>
      <p:sp>
        <p:nvSpPr>
          <p:cNvPr id="27" name="Text 1">
            <a:extLst>
              <a:ext uri="{FF2B5EF4-FFF2-40B4-BE49-F238E27FC236}">
                <a16:creationId xmlns:a16="http://schemas.microsoft.com/office/drawing/2014/main" id="{6B9357C1-C961-2836-7B1A-CB9654C27944}"/>
              </a:ext>
            </a:extLst>
          </p:cNvPr>
          <p:cNvSpPr/>
          <p:nvPr/>
        </p:nvSpPr>
        <p:spPr>
          <a:xfrm>
            <a:off x="738922" y="1456306"/>
            <a:ext cx="13152556" cy="3806729"/>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rPr>
              <a:t>This research highlights how subtle creative choices can meaningfully affect audience engagement.</a:t>
            </a:r>
            <a:br>
              <a:rPr lang="en-US" sz="1750" dirty="0">
                <a:solidFill>
                  <a:srgbClr val="DAD1E6"/>
                </a:solidFill>
                <a:latin typeface="Fira Sans" pitchFamily="34" charset="0"/>
              </a:rPr>
            </a:br>
            <a:r>
              <a:rPr lang="en-US" sz="1750" dirty="0">
                <a:solidFill>
                  <a:srgbClr val="DAD1E6"/>
                </a:solidFill>
                <a:latin typeface="Fira Sans" pitchFamily="34" charset="0"/>
              </a:rPr>
              <a:t>To maximize future impact, marketing teams should:</a:t>
            </a:r>
          </a:p>
          <a:p>
            <a:pPr marL="0" indent="0" algn="l">
              <a:lnSpc>
                <a:spcPts val="2850"/>
              </a:lnSpc>
              <a:buNone/>
            </a:pPr>
            <a:endParaRPr lang="en-US" sz="1750" dirty="0">
              <a:solidFill>
                <a:srgbClr val="DAD1E6"/>
              </a:solidFill>
              <a:latin typeface="Fira Sans" pitchFamily="34" charset="0"/>
            </a:endParaRPr>
          </a:p>
          <a:p>
            <a:pPr marL="0" indent="0" algn="l">
              <a:lnSpc>
                <a:spcPts val="2850"/>
              </a:lnSpc>
              <a:buNone/>
            </a:pPr>
            <a:r>
              <a:rPr lang="en-US" sz="1750" b="1" u="sng" dirty="0">
                <a:solidFill>
                  <a:srgbClr val="DAD1E6"/>
                </a:solidFill>
                <a:latin typeface="Fira Sans" pitchFamily="34" charset="0"/>
              </a:rPr>
              <a:t>1.Prioritize First-Impression Design</a:t>
            </a:r>
            <a:br>
              <a:rPr lang="en-US" sz="1750" dirty="0">
                <a:solidFill>
                  <a:srgbClr val="DAD1E6"/>
                </a:solidFill>
                <a:latin typeface="Fira Sans" pitchFamily="34" charset="0"/>
              </a:rPr>
            </a:br>
            <a:r>
              <a:rPr lang="en-US" sz="1600" dirty="0">
                <a:solidFill>
                  <a:srgbClr val="DAD1E6"/>
                </a:solidFill>
                <a:latin typeface="Fira Sans" pitchFamily="34" charset="0"/>
              </a:rPr>
              <a:t>Optimize envelope layout, typography, and headline hierarchy to ensure instant visual recognition.</a:t>
            </a:r>
            <a:br>
              <a:rPr lang="en-US" sz="1600" dirty="0">
                <a:solidFill>
                  <a:srgbClr val="DAD1E6"/>
                </a:solidFill>
                <a:latin typeface="Fira Sans" pitchFamily="34" charset="0"/>
              </a:rPr>
            </a:br>
            <a:r>
              <a:rPr lang="en-US" sz="1600" dirty="0">
                <a:solidFill>
                  <a:srgbClr val="DAD1E6"/>
                </a:solidFill>
                <a:latin typeface="Fira Sans" pitchFamily="34" charset="0"/>
              </a:rPr>
              <a:t>The mailer must communicate relevance and urgency before it is even opened.</a:t>
            </a:r>
          </a:p>
          <a:p>
            <a:pPr marL="0" indent="0" algn="l">
              <a:lnSpc>
                <a:spcPts val="2850"/>
              </a:lnSpc>
              <a:buNone/>
            </a:pPr>
            <a:r>
              <a:rPr lang="en-US" sz="1750" b="1" u="sng" dirty="0">
                <a:solidFill>
                  <a:srgbClr val="DAD1E6"/>
                </a:solidFill>
                <a:latin typeface="Fira Sans" pitchFamily="34" charset="0"/>
              </a:rPr>
              <a:t>2.Segment and Tailor Creative by Demographic</a:t>
            </a:r>
            <a:br>
              <a:rPr lang="en-US" sz="1750" dirty="0">
                <a:solidFill>
                  <a:srgbClr val="DAD1E6"/>
                </a:solidFill>
                <a:latin typeface="Fira Sans" pitchFamily="34" charset="0"/>
              </a:rPr>
            </a:br>
            <a:r>
              <a:rPr lang="en-US" sz="1600" dirty="0">
                <a:solidFill>
                  <a:srgbClr val="DAD1E6"/>
                </a:solidFill>
                <a:latin typeface="Fira Sans" pitchFamily="34" charset="0"/>
              </a:rPr>
              <a:t>Adapt tone, color palette, and message framing for key groups—particularly males and middle-income households, who showed the strongest engagement lift.</a:t>
            </a:r>
          </a:p>
          <a:p>
            <a:pPr marL="0" indent="0" algn="l">
              <a:lnSpc>
                <a:spcPts val="2850"/>
              </a:lnSpc>
              <a:buNone/>
            </a:pPr>
            <a:r>
              <a:rPr lang="en-US" sz="1750" b="1" u="sng" dirty="0">
                <a:solidFill>
                  <a:srgbClr val="DAD1E6"/>
                </a:solidFill>
                <a:latin typeface="Fira Sans" pitchFamily="34" charset="0"/>
              </a:rPr>
              <a:t>3.Strengthen Content-Driven Conversion</a:t>
            </a:r>
            <a:br>
              <a:rPr lang="en-US" sz="1750" dirty="0">
                <a:solidFill>
                  <a:srgbClr val="DAD1E6"/>
                </a:solidFill>
                <a:latin typeface="Fira Sans" pitchFamily="34" charset="0"/>
              </a:rPr>
            </a:br>
            <a:r>
              <a:rPr lang="en-US" sz="1600" dirty="0">
                <a:solidFill>
                  <a:srgbClr val="DAD1E6"/>
                </a:solidFill>
                <a:latin typeface="Fira Sans" pitchFamily="34" charset="0"/>
              </a:rPr>
              <a:t>Refine the internal copy with clearer calls-to-action, simplified benefit statements, and trust cues such as endorsements or plan guarantees.</a:t>
            </a:r>
          </a:p>
          <a:p>
            <a:pPr marL="0" indent="0" algn="l">
              <a:lnSpc>
                <a:spcPts val="2850"/>
              </a:lnSpc>
              <a:buNone/>
            </a:pPr>
            <a:r>
              <a:rPr lang="en-US" sz="1750" b="1" u="sng" dirty="0">
                <a:solidFill>
                  <a:srgbClr val="DAD1E6"/>
                </a:solidFill>
                <a:latin typeface="Fira Sans" pitchFamily="34" charset="0"/>
              </a:rPr>
              <a:t>4.Integrate Future Testing and Personalization</a:t>
            </a:r>
            <a:br>
              <a:rPr lang="en-US" sz="1750" dirty="0">
                <a:solidFill>
                  <a:srgbClr val="DAD1E6"/>
                </a:solidFill>
                <a:latin typeface="Fira Sans" pitchFamily="34" charset="0"/>
              </a:rPr>
            </a:br>
            <a:r>
              <a:rPr lang="en-US" sz="1600" dirty="0">
                <a:solidFill>
                  <a:srgbClr val="DAD1E6"/>
                </a:solidFill>
                <a:latin typeface="Fira Sans" pitchFamily="34" charset="0"/>
              </a:rPr>
              <a:t>Implement follow-up experiments combining direct-mail with digital touchpoints, exploring personalized messaging to translate attention into measurable response.</a:t>
            </a:r>
          </a:p>
          <a:p>
            <a:pPr marL="0" indent="0" algn="l">
              <a:lnSpc>
                <a:spcPts val="2850"/>
              </a:lnSpc>
              <a:buNone/>
            </a:pPr>
            <a:endParaRPr lang="en-US" sz="1600" dirty="0">
              <a:solidFill>
                <a:srgbClr val="DAD1E6"/>
              </a:solidFill>
              <a:latin typeface="Fira Sans" pitchFamily="34" charset="0"/>
            </a:endParaRPr>
          </a:p>
          <a:p>
            <a:pPr marL="0" indent="0" algn="l">
              <a:lnSpc>
                <a:spcPts val="2850"/>
              </a:lnSpc>
              <a:buNone/>
            </a:pPr>
            <a:r>
              <a:rPr lang="en-US" sz="1750" dirty="0">
                <a:solidFill>
                  <a:srgbClr val="DAD1E6"/>
                </a:solidFill>
                <a:latin typeface="Fira Sans" pitchFamily="34" charset="0"/>
              </a:rPr>
              <a:t>Overall, turning a strong first impression into real action will depend on combining visual clarity, audience insight, and message authenticity</a:t>
            </a:r>
          </a:p>
          <a:p>
            <a:pPr marL="0" indent="0" algn="l">
              <a:lnSpc>
                <a:spcPts val="2850"/>
              </a:lnSpc>
              <a:buNone/>
            </a:pPr>
            <a:endParaRPr lang="en-US" sz="1750" dirty="0"/>
          </a:p>
        </p:txBody>
      </p:sp>
      <p:pic>
        <p:nvPicPr>
          <p:cNvPr id="28" name="图片 27">
            <a:extLst>
              <a:ext uri="{FF2B5EF4-FFF2-40B4-BE49-F238E27FC236}">
                <a16:creationId xmlns:a16="http://schemas.microsoft.com/office/drawing/2014/main" id="{60E32359-6CC9-4BCE-3BD2-0B0868EC83C2}"/>
              </a:ext>
            </a:extLst>
          </p:cNvPr>
          <p:cNvPicPr>
            <a:picLocks noChangeAspect="1"/>
          </p:cNvPicPr>
          <p:nvPr/>
        </p:nvPicPr>
        <p:blipFill>
          <a:blip r:embed="rId3"/>
          <a:stretch>
            <a:fillRect/>
          </a:stretch>
        </p:blipFill>
        <p:spPr>
          <a:xfrm>
            <a:off x="12878381" y="7683818"/>
            <a:ext cx="1664811" cy="51926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1065</Words>
  <Application>Microsoft Office PowerPoint</Application>
  <PresentationFormat>自定义</PresentationFormat>
  <Paragraphs>203</Paragraphs>
  <Slides>11</Slides>
  <Notes>11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BIZ UDPMincho Medium</vt:lpstr>
      <vt:lpstr>Inconsolata Bold</vt:lpstr>
      <vt:lpstr>Fira Sans</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Zhang, Ziang</cp:lastModifiedBy>
  <cp:revision>6</cp:revision>
  <dcterms:created xsi:type="dcterms:W3CDTF">2025-11-13T20:50:36Z</dcterms:created>
  <dcterms:modified xsi:type="dcterms:W3CDTF">2025-11-14T00:35:43Z</dcterms:modified>
</cp:coreProperties>
</file>