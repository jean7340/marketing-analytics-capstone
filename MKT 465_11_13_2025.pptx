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63DC064-AC66-488F-99A9-0D9915C7522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2f1f695c2_0_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2f1f695c2_0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0c7d4c23f_2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0c7d4c23f_2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0c7d4c23f_2_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0c7d4c23f_2_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0c7d4c23f_2_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0c7d4c23f_2_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2f1f695c2_0_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2f1f695c2_0_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Who’s the Winner for Medicare Mail Acquisition</a:t>
            </a:r>
            <a:endParaRPr lang="en-US" altLang="en-GB"/>
          </a:p>
        </p:txBody>
      </p:sp>
      <p:sp>
        <p:nvSpPr>
          <p:cNvPr id="55" name="Google Shape;55;p13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tx1"/>
                </a:solidFill>
              </a:rPr>
              <a:t>Group 13</a:t>
            </a: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Background &amp; Objective</a:t>
            </a:r>
            <a:endParaRPr lang="en-GB"/>
          </a:p>
        </p:txBody>
      </p:sp>
      <p:sp>
        <p:nvSpPr>
          <p:cNvPr id="61" name="Google Shape;61;p1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Objective: To determine the most effective mailing package (Option A vs. Option B) for a Medicare Advantage plan promotion, specifically measuring the effect on customer Likelihood to Open the mail and their subsequent Likelihood to Take the Next Step.</a:t>
            </a:r>
            <a:endParaRPr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Methodology: Two independent survey groups (N=500 each) were shown either Option A or Option B and asked a series of questions about their response. No respondent was asked about both options.</a:t>
            </a:r>
            <a:endParaRPr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Option A shows a statistically significant advantage over Option B in the </a:t>
            </a:r>
            <a:r>
              <a:rPr lang="en-GB" sz="1100" b="1"/>
              <a:t>Likelihood to Open</a:t>
            </a:r>
            <a:r>
              <a:rPr lang="en-GB" sz="1100"/>
              <a:t>, but no difference in the </a:t>
            </a:r>
            <a:r>
              <a:rPr lang="en-GB" sz="1100" b="1"/>
              <a:t>Likelihood to Take Next Step</a:t>
            </a:r>
            <a:r>
              <a:rPr lang="en-GB" sz="1100"/>
              <a:t>.</a:t>
            </a:r>
            <a:endParaRPr lang="en-GB" sz="1100"/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847150" y="1431425"/>
          <a:ext cx="7607725" cy="3000000"/>
        </p:xfrm>
        <a:graphic>
          <a:graphicData uri="http://schemas.openxmlformats.org/drawingml/2006/table">
            <a:tbl>
              <a:tblPr>
                <a:noFill/>
                <a:tableStyleId>{C63DC064-AC66-488F-99A9-0D9915C75229}</a:tableStyleId>
              </a:tblPr>
              <a:tblGrid>
                <a:gridCol w="1417175"/>
                <a:gridCol w="1047375"/>
                <a:gridCol w="1154950"/>
                <a:gridCol w="1206500"/>
                <a:gridCol w="1206500"/>
                <a:gridCol w="1575225"/>
              </a:tblGrid>
              <a:tr h="483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100" b="1"/>
                        <a:t>Metric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100" b="1"/>
                        <a:t>Option A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100" b="1"/>
                        <a:t>Option B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100" b="1"/>
                        <a:t>T/Z-Statistic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100" b="1"/>
                        <a:t>p-value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100" b="1"/>
                        <a:t>Conclusion (α=0.05)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83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100" b="1"/>
                        <a:t>Mean Score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100"/>
                        <a:t>3.03</a:t>
                      </a: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100"/>
                        <a:t>2.75</a:t>
                      </a: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100"/>
                        <a:t>t=3.0913</a:t>
                      </a: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100"/>
                        <a:t>0.0020</a:t>
                      </a: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100" b="1"/>
                        <a:t>Significant</a:t>
                      </a:r>
                      <a:r>
                        <a:rPr lang="en-GB" sz="1100"/>
                        <a:t> (A &gt; B)</a:t>
                      </a: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39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100" b="1"/>
                        <a:t>High Response Proportion (4 or 5)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100"/>
                        <a:t>42.00%</a:t>
                      </a: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100"/>
                        <a:t>33.40%</a:t>
                      </a: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100"/>
                        <a:t>z=2.8058</a:t>
                      </a: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100"/>
                        <a:t>0.0050</a:t>
                      </a: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100" b="1"/>
                        <a:t>Significant</a:t>
                      </a:r>
                      <a:r>
                        <a:rPr lang="en-GB" sz="1100"/>
                        <a:t> (A &gt; B)</a:t>
                      </a: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68" name="Google Shape;68;p15"/>
          <p:cNvSpPr txBox="1"/>
          <p:nvPr/>
        </p:nvSpPr>
        <p:spPr>
          <a:xfrm>
            <a:off x="311700" y="10177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Likelihood to Open (Column E)：</a:t>
            </a:r>
            <a:endParaRPr sz="1100"/>
          </a:p>
        </p:txBody>
      </p:sp>
      <p:sp>
        <p:nvSpPr>
          <p:cNvPr id="69" name="Google Shape;69;p15"/>
          <p:cNvSpPr txBox="1"/>
          <p:nvPr/>
        </p:nvSpPr>
        <p:spPr>
          <a:xfrm>
            <a:off x="311700" y="3097175"/>
            <a:ext cx="3807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Likelihood to Take Next Step (Column S)：</a:t>
            </a:r>
            <a:endParaRPr sz="1100"/>
          </a:p>
        </p:txBody>
      </p:sp>
      <p:graphicFrame>
        <p:nvGraphicFramePr>
          <p:cNvPr id="70" name="Google Shape;70;p15"/>
          <p:cNvGraphicFramePr/>
          <p:nvPr/>
        </p:nvGraphicFramePr>
        <p:xfrm>
          <a:off x="847163" y="3497375"/>
          <a:ext cx="7607700" cy="3000000"/>
        </p:xfrm>
        <a:graphic>
          <a:graphicData uri="http://schemas.openxmlformats.org/drawingml/2006/table">
            <a:tbl>
              <a:tblPr>
                <a:noFill/>
                <a:tableStyleId>{C63DC064-AC66-488F-99A9-0D9915C75229}</a:tableStyleId>
              </a:tblPr>
              <a:tblGrid>
                <a:gridCol w="1417175"/>
                <a:gridCol w="1118725"/>
                <a:gridCol w="1267950"/>
                <a:gridCol w="1267950"/>
                <a:gridCol w="960700"/>
                <a:gridCol w="1575200"/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100" b="1"/>
                        <a:t>Metric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100" b="1"/>
                        <a:t>Option A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100" b="1"/>
                        <a:t>Option B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100" b="1"/>
                        <a:t>T/Z-Statistic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100" b="1"/>
                        <a:t>p-value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100" b="1"/>
                        <a:t>Conclusion (α=0.05)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100" b="1"/>
                        <a:t>Mean Score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3.06</a:t>
                      </a: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3.06</a:t>
                      </a:r>
                      <a:endParaRPr sz="1100"/>
                    </a:p>
                  </a:txBody>
                  <a:tcPr marL="91425" marR="91425" marT="91425" marB="91425"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t=0.0000</a:t>
                      </a:r>
                      <a:endParaRPr sz="1100"/>
                    </a:p>
                  </a:txBody>
                  <a:tcPr marL="91425" marR="91425" marT="91425" marB="91425"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1.0000</a:t>
                      </a:r>
                      <a:endParaRPr sz="1100"/>
                    </a:p>
                  </a:txBody>
                  <a:tcPr marL="91425" marR="91425" marT="91425" marB="91425"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Not Significant</a:t>
                      </a:r>
                      <a:endParaRPr sz="1100"/>
                    </a:p>
                  </a:txBody>
                  <a:tcPr marL="91425" marR="91425" marT="91425" marB="91425"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100" b="1"/>
                        <a:t>High Response Proportion (4 or 5)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44.4%</a:t>
                      </a: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44.4%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z=0.0000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1.0000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Not Significant</a:t>
                      </a:r>
                      <a:endParaRPr sz="1100"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2000"/>
              <a:buFont typeface="Arial" panose="020B0604020202090204"/>
              <a:buNone/>
            </a:pPr>
            <a:r>
              <a:rPr lang="en-GB" sz="1200" b="1"/>
              <a:t>Subgroup Analysis: Gender Differences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90204"/>
              <a:buNone/>
            </a:pPr>
            <a:r>
              <a:rPr lang="en-GB" sz="1100"/>
              <a:t>The overall advantage of Option A for "Likelihood to Open" is statistically significant only among Male respondents.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graphicFrame>
        <p:nvGraphicFramePr>
          <p:cNvPr id="76" name="Google Shape;76;p16"/>
          <p:cNvGraphicFramePr/>
          <p:nvPr/>
        </p:nvGraphicFramePr>
        <p:xfrm>
          <a:off x="847150" y="1371725"/>
          <a:ext cx="7607725" cy="3000000"/>
        </p:xfrm>
        <a:graphic>
          <a:graphicData uri="http://schemas.openxmlformats.org/drawingml/2006/table">
            <a:tbl>
              <a:tblPr>
                <a:noFill/>
                <a:tableStyleId>{C63DC064-AC66-488F-99A9-0D9915C75229}</a:tableStyleId>
              </a:tblPr>
              <a:tblGrid>
                <a:gridCol w="1417175"/>
                <a:gridCol w="1047375"/>
                <a:gridCol w="1154950"/>
                <a:gridCol w="1206500"/>
                <a:gridCol w="1206500"/>
                <a:gridCol w="1575225"/>
              </a:tblGrid>
              <a:tr h="322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Metric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Option A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Option B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T/Z-Statistic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p-value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Conclusion (α=0.05)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2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Mean Score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3.06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2.73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t=2.6595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0.0081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Significant</a:t>
                      </a:r>
                      <a:r>
                        <a:rPr lang="en-GB" sz="800"/>
                        <a:t> (A &gt; B)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2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High Response Proportion (4 or 5)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40.08%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30.56%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z=2.2367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0.0253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Significant</a:t>
                      </a:r>
                      <a:r>
                        <a:rPr lang="en-GB" sz="800"/>
                        <a:t> (A &gt; B)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2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Likelihood to Take Next Step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2.98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2.98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p=1.0000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1.0000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</a:rPr>
                        <a:t>Not Significant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77" name="Google Shape;77;p16"/>
          <p:cNvSpPr txBox="1"/>
          <p:nvPr/>
        </p:nvSpPr>
        <p:spPr>
          <a:xfrm>
            <a:off x="311700" y="10177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Male Respondents：</a:t>
            </a:r>
            <a:endParaRPr sz="1100"/>
          </a:p>
        </p:txBody>
      </p:sp>
      <p:sp>
        <p:nvSpPr>
          <p:cNvPr id="78" name="Google Shape;78;p16"/>
          <p:cNvSpPr txBox="1"/>
          <p:nvPr/>
        </p:nvSpPr>
        <p:spPr>
          <a:xfrm>
            <a:off x="311700" y="3032250"/>
            <a:ext cx="3807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Female Respondents：</a:t>
            </a:r>
            <a:endParaRPr sz="1100"/>
          </a:p>
        </p:txBody>
      </p:sp>
      <p:graphicFrame>
        <p:nvGraphicFramePr>
          <p:cNvPr id="79" name="Google Shape;79;p16"/>
          <p:cNvGraphicFramePr/>
          <p:nvPr/>
        </p:nvGraphicFramePr>
        <p:xfrm>
          <a:off x="847138" y="3381025"/>
          <a:ext cx="7607725" cy="3000000"/>
        </p:xfrm>
        <a:graphic>
          <a:graphicData uri="http://schemas.openxmlformats.org/drawingml/2006/table">
            <a:tbl>
              <a:tblPr>
                <a:noFill/>
                <a:tableStyleId>{C63DC064-AC66-488F-99A9-0D9915C75229}</a:tableStyleId>
              </a:tblPr>
              <a:tblGrid>
                <a:gridCol w="1417175"/>
                <a:gridCol w="1047375"/>
                <a:gridCol w="1154950"/>
                <a:gridCol w="1206500"/>
                <a:gridCol w="1206500"/>
                <a:gridCol w="1575225"/>
              </a:tblGrid>
              <a:tr h="322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Metric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Option A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Option B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T/Z-Statistic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p-value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Conclusion (α=0.05)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2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Mean Score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3.00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2.77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t=1.7387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0.0827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</a:rPr>
                        <a:t>Not Significant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2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High Response Proportion (4 or 5)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43.95%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36.29%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z=1.7406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0.0818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</a:rPr>
                        <a:t>Not Significant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2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Likelihood to Take Next Step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3.15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3.15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p=1.0000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1.0000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</a:rPr>
                        <a:t>Not Significant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/>
              <a:t>Subgroup Analysis: </a:t>
            </a:r>
            <a:r>
              <a:rPr lang="en-GB" sz="1200" b="1"/>
              <a:t>Household Income Differences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The advantage of Option A for "Likelihood to Open" is strongest and most statistically significant for respondents in the mid-to-high income bracket of </a:t>
            </a:r>
            <a:r>
              <a:rPr lang="en-GB" sz="1100" b="1"/>
              <a:t>$75,000-$99,999</a:t>
            </a:r>
            <a:r>
              <a:rPr lang="en-GB" sz="1100"/>
              <a:t>.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graphicFrame>
        <p:nvGraphicFramePr>
          <p:cNvPr id="85" name="Google Shape;85;p17"/>
          <p:cNvGraphicFramePr/>
          <p:nvPr/>
        </p:nvGraphicFramePr>
        <p:xfrm>
          <a:off x="768138" y="1866850"/>
          <a:ext cx="7607750" cy="3000000"/>
        </p:xfrm>
        <a:graphic>
          <a:graphicData uri="http://schemas.openxmlformats.org/drawingml/2006/table">
            <a:tbl>
              <a:tblPr>
                <a:noFill/>
                <a:tableStyleId>{C63DC064-AC66-488F-99A9-0D9915C75229}</a:tableStyleId>
              </a:tblPr>
              <a:tblGrid>
                <a:gridCol w="1078175"/>
                <a:gridCol w="796850"/>
                <a:gridCol w="878675"/>
                <a:gridCol w="925925"/>
                <a:gridCol w="909900"/>
                <a:gridCol w="909900"/>
                <a:gridCol w="909900"/>
                <a:gridCol w="1198425"/>
              </a:tblGrid>
              <a:tr h="322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Income Group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Option A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Option B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p-value (Mean)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Prop A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Prop B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p</a:t>
                      </a:r>
                      <a:r>
                        <a:rPr lang="en-GB" sz="800" b="1"/>
                        <a:t>-value (Prop)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Conclusion (α=0.05)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2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$75,000-$99,999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3.12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2.74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0.0400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46.73%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31.78%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0.0251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Significant (A &gt; B)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2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$100,000+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3.13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2.76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0.0870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43.02%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30.23%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0.0817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</a:rPr>
                        <a:t>Not Significant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2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$50,000-$74,999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3.06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2.68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0.0587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42.86%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31.63%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0.1041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</a:rPr>
                        <a:t>Not Significant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2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$25,000-$49,999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2.92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2.76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0.4330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39.81%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36.11%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0.5749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</a:rPr>
                        <a:t>Not Significant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2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 b="1"/>
                        <a:t>&lt;$25,000</a:t>
                      </a:r>
                      <a:endParaRPr sz="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2.94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2.82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0.5709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37.62%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36.63%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800"/>
                        <a:t>0.8842</a:t>
                      </a: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</a:rPr>
                        <a:t>Not Significant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7"/>
          <p:cNvSpPr txBox="1"/>
          <p:nvPr/>
        </p:nvSpPr>
        <p:spPr>
          <a:xfrm>
            <a:off x="311700" y="1439100"/>
            <a:ext cx="343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Likelihood to Open (Mean Score &amp; Proportion) by Income Group:</a:t>
            </a:r>
            <a:endParaRPr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Performance in Getting Opened: Option A Wins</a:t>
            </a:r>
            <a:br>
              <a:rPr lang="en-GB"/>
            </a:br>
            <a:r>
              <a:rPr lang="en-GB"/>
              <a:t>Performance in Driving Action: No Difference</a:t>
            </a:r>
            <a:endParaRPr lang="en-GB"/>
          </a:p>
        </p:txBody>
      </p:sp>
      <p:sp>
        <p:nvSpPr>
          <p:cNvPr id="92" name="Google Shape;92;p18"/>
          <p:cNvSpPr txBox="1"/>
          <p:nvPr>
            <p:ph type="body" idx="1"/>
          </p:nvPr>
        </p:nvSpPr>
        <p:spPr>
          <a:xfrm>
            <a:off x="311785" y="1748790"/>
            <a:ext cx="8520430" cy="28200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tx1"/>
                </a:solidFill>
              </a:rPr>
              <a:t>- </a:t>
            </a:r>
            <a:r>
              <a:rPr>
                <a:solidFill>
                  <a:schemeClr val="tx1"/>
                </a:solidFill>
              </a:rPr>
              <a:t>Option A's external design is superior for attracting attention and avoiding the junk pile.The design of Option A effectively creates a sense of urgency and official authority, which overrides negative factors like "looks too much like an advertisement."</a:t>
            </a:r>
            <a:endParaRPr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tx1"/>
                </a:solidFill>
              </a:rPr>
              <a:t>- </a:t>
            </a:r>
            <a:r>
              <a:rPr>
                <a:solidFill>
                  <a:schemeClr val="tx1"/>
                </a:solidFill>
              </a:rPr>
              <a:t>The internal content, offer details, and Call-to-Action (CTA) are equally effective (or ineffective) for both mailers. The difference between A and B is only in the outer packaging/envelope.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Conclusion: Option A is clearly superior for the top of the funnel (Acquisition), but neither option is better at driving final conversion once the mail is opened.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311785" y="2034540"/>
            <a:ext cx="8520430" cy="2534285"/>
          </a:xfrm>
        </p:spPr>
        <p:txBody>
          <a:bodyPr>
            <a:normAutofit lnSpcReduction="20000"/>
          </a:bodyPr>
          <a:p>
            <a:pPr marL="114300" indent="0">
              <a:buNone/>
            </a:pPr>
            <a:r>
              <a:rPr lang="en-US">
                <a:solidFill>
                  <a:schemeClr val="tx1"/>
                </a:solidFill>
              </a:rPr>
              <a:t>Recommendation:</a:t>
            </a:r>
            <a:endParaRPr lang="en-US">
              <a:solidFill>
                <a:schemeClr val="tx1"/>
              </a:solidFill>
            </a:endParaRP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Standardize Option A's Outer Packaging: Adopt Option A's design as the standard for all future mailings due to its proven ability to generate opens.</a:t>
            </a:r>
            <a:endParaRPr lang="en-US">
              <a:solidFill>
                <a:schemeClr val="tx1"/>
              </a:solidFill>
            </a:endParaRP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Focus Future Testing on Internal Content: Allocate resources to A/B test variations of the inside content and offer to boost the "Likelihood to Take the Next Step" score (Column S), as the current internal content performs identically for both options.</a:t>
            </a: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3578</Words>
  <Application>WPS Writer</Application>
  <PresentationFormat/>
  <Paragraphs>308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汉仪旗黑</vt:lpstr>
      <vt:lpstr>宋体</vt:lpstr>
      <vt:lpstr>Arial Unicode MS</vt:lpstr>
      <vt:lpstr>汉仪书宋二KW</vt:lpstr>
      <vt:lpstr>Arial Bold</vt:lpstr>
      <vt:lpstr>Simple Light</vt:lpstr>
      <vt:lpstr>Title</vt:lpstr>
      <vt:lpstr>Background &amp; Objective</vt:lpstr>
      <vt:lpstr>Option A shows a statistically significant advantage over Option B in the Likelihood to Open, but no difference in the Likelihood to Take Next Step.</vt:lpstr>
      <vt:lpstr>The overall advantage of Option A for "Likelihood to Open" is statistically significant only among Male respondents.</vt:lpstr>
      <vt:lpstr>The advantage of Option A for "Likelihood to Open" is strongest and most statistically significant for respondents in the mid-to-high income bracket of $75,000-$99,999.</vt:lpstr>
      <vt:lpstr>Key Insights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Who’s the Winner for Medicare Mail Acquisition</dc:title>
  <dc:creator/>
  <cp:lastModifiedBy>”</cp:lastModifiedBy>
  <cp:revision>2</cp:revision>
  <dcterms:created xsi:type="dcterms:W3CDTF">2025-11-13T20:25:25Z</dcterms:created>
  <dcterms:modified xsi:type="dcterms:W3CDTF">2025-11-13T20:25:25Z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8C04FC8EC69E72EE003E166936DED3FF_42</vt:lpwstr>
  </property>
  <property fmtid="{D5CDD505-2E9C-101B-9397-08002B2CF9AE}" pid="3" name="KSOProductBuildVer">
    <vt:lpwstr>1033-6.4.0.8550</vt:lpwstr>
  </property>
</Properties>
</file>