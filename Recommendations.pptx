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58" r:id="rId7"/>
    <p:sldId id="260" r:id="rId8"/>
  </p:sldIdLst>
  <p:sldSz cx="14630400" cy="8229600" type="screen16x9"/>
  <p:notesSz cx="8229600" cy="14630400"/>
  <p:embeddedFontLst>
    <p:embeddedFont>
      <p:font typeface="Inconsolata Bold" pitchFamily="34" charset="-120"/>
      <p:regular r:id="rId12"/>
    </p:embeddedFont>
    <p:embeddedFont>
      <p:font typeface="Inconsolata Bold" pitchFamily="34" charset="0"/>
      <p:regular r:id="rId13"/>
    </p:embeddedFont>
    <p:embeddedFont>
      <p:font typeface="Inconsolata Bold" pitchFamily="34" charset="-122"/>
      <p:regular r:id="rId14"/>
    </p:embeddedFont>
    <p:embeddedFont>
      <p:font typeface="Fira Sans" panose="020B0503050000020004" pitchFamily="34" charset="0"/>
      <p:regular r:id="rId15"/>
    </p:embeddedFont>
    <p:embeddedFont>
      <p:font typeface="Fira Sans" panose="020B0503050000020004" pitchFamily="34" charset="-122"/>
      <p:regular r:id="rId16"/>
    </p:embeddedFont>
    <p:embeddedFont>
      <p:font typeface="Fira Sans" panose="020B0503050000020004" pitchFamily="34" charset="-120"/>
      <p:regular r:id="rId17"/>
    </p:embeddedFont>
    <p:embeddedFont>
      <p:font typeface="Inconsolata Bold"/>
      <p:regular r:id="rId1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</p:spPr>
        <p:txBody>
          <a:bodyPr/>
          <a:p/>
        </p:txBody>
      </p:sp>
      <p:sp>
        <p:nvSpPr>
          <p:cNvPr id="8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</p:spPr>
        <p:txBody>
          <a:bodyPr/>
          <a:p/>
        </p:txBody>
      </p:sp>
      <p:pic>
        <p:nvPicPr>
          <p:cNvPr id="9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</p:spPr>
        <p:txBody>
          <a:bodyPr/>
          <a:p/>
        </p:txBody>
      </p:sp>
      <p:sp>
        <p:nvSpPr>
          <p:cNvPr id="12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</p:spPr>
        <p:txBody>
          <a:bodyPr/>
          <a:p/>
        </p:txBody>
      </p:sp>
      <p:pic>
        <p:nvPicPr>
          <p:cNvPr id="1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</p:spPr>
        <p:txBody>
          <a:bodyPr/>
          <a:p/>
        </p:txBody>
      </p:sp>
      <p:sp>
        <p:nvSpPr>
          <p:cNvPr id="16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</p:spPr>
        <p:txBody>
          <a:bodyPr/>
          <a:p/>
        </p:txBody>
      </p:sp>
      <p:pic>
        <p:nvPicPr>
          <p:cNvPr id="17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</p:spPr>
        <p:txBody>
          <a:bodyPr/>
          <a:p/>
        </p:txBody>
      </p:sp>
      <p:sp>
        <p:nvSpPr>
          <p:cNvPr id="20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</p:spPr>
        <p:txBody>
          <a:bodyPr/>
          <a:p/>
        </p:txBody>
      </p:sp>
      <p:pic>
        <p:nvPicPr>
          <p:cNvPr id="21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</p:spPr>
        <p:txBody>
          <a:bodyPr/>
          <a:p/>
        </p:txBody>
      </p:sp>
      <p:sp>
        <p:nvSpPr>
          <p:cNvPr id="2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</p:spPr>
        <p:txBody>
          <a:bodyPr/>
          <a:p/>
        </p:txBody>
      </p:sp>
      <p:pic>
        <p:nvPicPr>
          <p:cNvPr id="25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06021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BIZ UDPMincho Medium" panose="02020500000000000000" pitchFamily="18" charset="-128"/>
                <a:ea typeface="BIZ UDPMincho Medium" panose="02020500000000000000" pitchFamily="18" charset="-128"/>
                <a:cs typeface="Inconsolata Bold" pitchFamily="34" charset="-120"/>
              </a:rPr>
              <a:t>Testing Consumer Reactions to Direct Mail Ads: Option A vs Option B</a:t>
            </a:r>
            <a:endParaRPr lang="en-US" sz="4450" dirty="0">
              <a:latin typeface="BIZ UDPMincho Medium" panose="02020500000000000000" pitchFamily="18" charset="-128"/>
              <a:ea typeface="BIZ UDPMincho Medium" panose="02020500000000000000" pitchFamily="18" charset="-128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8381" y="7683818"/>
            <a:ext cx="1664811" cy="5192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788670" y="619720"/>
            <a:ext cx="4789051" cy="5985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Insights</a:t>
            </a:r>
            <a:endParaRPr lang="en-US" sz="3750" dirty="0"/>
          </a:p>
        </p:txBody>
      </p:sp>
      <p:sp>
        <p:nvSpPr>
          <p:cNvPr id="6" name="Text 1"/>
          <p:cNvSpPr/>
          <p:nvPr/>
        </p:nvSpPr>
        <p:spPr>
          <a:xfrm>
            <a:off x="788670" y="1601272"/>
            <a:ext cx="13053060" cy="3064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Option A outperformed Option B</a:t>
            </a:r>
            <a:r>
              <a:rPr lang="en-US" sz="1500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 on </a:t>
            </a:r>
            <a:r>
              <a:rPr lang="en-US" sz="1500" i="1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Likelihood to Open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788670" y="2123242"/>
            <a:ext cx="13053060" cy="3064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Statistically significant difference (p &lt; 0.05)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788670" y="2645212"/>
            <a:ext cx="13053060" cy="3064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No significant difference</a:t>
            </a:r>
            <a:r>
              <a:rPr lang="en-US" sz="1500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 on </a:t>
            </a:r>
            <a:r>
              <a:rPr lang="en-US" sz="1500" i="1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Likelihood to Take Next Step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788670" y="3238976"/>
            <a:ext cx="2394466" cy="2992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Gender Analysis: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788670" y="3825478"/>
            <a:ext cx="13053060" cy="3064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Advantage for Option A driven primarily by male respondents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88670" y="4198977"/>
            <a:ext cx="13053060" cy="3064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Female responses showed no meaningful gap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88670" y="4792742"/>
            <a:ext cx="2394466" cy="2992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Income Analysis: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788670" y="5379244"/>
            <a:ext cx="13053060" cy="3064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Strongest effect among mid-to-high income group ($75 k – $99 k)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88670" y="5752743"/>
            <a:ext cx="13053060" cy="3064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Lower-income and higher-income groups showed minimal difference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88670" y="6346508"/>
            <a:ext cx="2394466" cy="2992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Overall Conclusion: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788670" y="6933009"/>
            <a:ext cx="13053060" cy="3064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First-impression design (headline + envelope clarity) most influences engagement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88670" y="7306508"/>
            <a:ext cx="13053060" cy="3064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AD1E6"/>
                </a:solidFill>
                <a:latin typeface="Fira Sans" panose="020B0503050000020004" pitchFamily="34" charset="0"/>
                <a:ea typeface="Fira Sans" panose="020B0503050000020004" pitchFamily="34" charset="-122"/>
                <a:cs typeface="Fira Sans" panose="020B0503050000020004" pitchFamily="34" charset="-120"/>
              </a:rPr>
              <a:t>Tailoring creative by gender and income segment may further lift results</a:t>
            </a:r>
            <a:endParaRPr lang="en-US" sz="1500" dirty="0"/>
          </a:p>
        </p:txBody>
      </p:sp>
      <p:pic>
        <p:nvPicPr>
          <p:cNvPr id="18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8381" y="7683818"/>
            <a:ext cx="1664811" cy="5192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788670" y="619720"/>
            <a:ext cx="4789051" cy="5985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altLang="zh-CN" sz="3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</a:rPr>
              <a:t>Strategic Implications</a:t>
            </a:r>
            <a:endParaRPr lang="en-US" sz="3750" dirty="0"/>
          </a:p>
        </p:txBody>
      </p:sp>
      <p:sp>
        <p:nvSpPr>
          <p:cNvPr id="25" name="Text 1"/>
          <p:cNvSpPr/>
          <p:nvPr/>
        </p:nvSpPr>
        <p:spPr>
          <a:xfrm>
            <a:off x="788670" y="1493534"/>
            <a:ext cx="12296322" cy="56805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sz="1800"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Quantitative analysis shows </a:t>
            </a:r>
            <a:r>
              <a:rPr sz="1800"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Option A significantly outperformed Option B in Likelihood to Open (p = 0.002)</a:t>
            </a:r>
            <a:r>
              <a:rPr sz="1800"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and in the proportion of high ratings (42% vs 33%), which </a:t>
            </a:r>
            <a:r>
              <a:rPr sz="1800"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confirms that Option A creates a stronger first impression and is more effective at grabbing attention.</a:t>
            </a:r>
            <a:endParaRPr sz="1800" b="1">
              <a:solidFill>
                <a:schemeClr val="bg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lvl="0">
              <a:lnSpc>
                <a:spcPct val="150000"/>
              </a:lnSpc>
            </a:pPr>
            <a:endParaRPr lang="en-US" sz="1800" b="1">
              <a:solidFill>
                <a:schemeClr val="bg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>
              <a:lnSpc>
                <a:spcPct val="150000"/>
              </a:lnSpc>
            </a:pPr>
            <a:r>
              <a:rPr sz="1800"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However, because both ads performed identically on </a:t>
            </a:r>
            <a:r>
              <a:rPr sz="1800"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Likelihood to Take the Next Step (p = 1.00)</a:t>
            </a:r>
            <a:r>
              <a:rPr sz="1800"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, Option A should be</a:t>
            </a:r>
            <a:r>
              <a:rPr sz="1800"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kept as the base design but refined to improve post-read conversion.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等线"/>
              <a:cs typeface="+mn-cs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26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8381" y="7683818"/>
            <a:ext cx="1664811" cy="5192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788670" y="619720"/>
            <a:ext cx="4789051" cy="5985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altLang="zh-CN" sz="3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</a:rPr>
              <a:t>Strategic Implications</a:t>
            </a:r>
            <a:endParaRPr lang="en-US" sz="3750" dirty="0"/>
          </a:p>
        </p:txBody>
      </p:sp>
      <p:sp>
        <p:nvSpPr>
          <p:cNvPr id="21" name="Text 1"/>
          <p:cNvSpPr/>
          <p:nvPr/>
        </p:nvSpPr>
        <p:spPr>
          <a:xfrm>
            <a:off x="738922" y="1456306"/>
            <a:ext cx="13152555" cy="56805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anose="020B0503050000020004" pitchFamily="34" charset="0"/>
              </a:rPr>
              <a:t>This research highlights how subtle creative choices can meaningfully affect audience engagement.</a:t>
            </a:r>
            <a:br>
              <a:rPr lang="en-US" sz="1750" dirty="0">
                <a:solidFill>
                  <a:srgbClr val="DAD1E6"/>
                </a:solidFill>
                <a:latin typeface="Fira Sans" panose="020B0503050000020004" pitchFamily="34" charset="0"/>
              </a:rPr>
            </a:br>
            <a:r>
              <a:rPr lang="en-US" sz="1750" dirty="0">
                <a:solidFill>
                  <a:srgbClr val="DAD1E6"/>
                </a:solidFill>
                <a:latin typeface="Fira Sans" panose="020B0503050000020004" pitchFamily="34" charset="0"/>
              </a:rPr>
              <a:t>To maximize future impact, marketing teams should:</a:t>
            </a:r>
            <a:endParaRPr lang="en-US" sz="1750" dirty="0">
              <a:solidFill>
                <a:srgbClr val="DAD1E6"/>
              </a:solidFill>
              <a:latin typeface="Fira Sans" panose="020B05030500000200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DAD1E6"/>
              </a:solidFill>
              <a:latin typeface="Fira Sans" panose="020B05030500000200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u="sng" dirty="0">
                <a:solidFill>
                  <a:srgbClr val="DAD1E6"/>
                </a:solidFill>
                <a:latin typeface="Fira Sans" panose="020B0503050000020004" pitchFamily="34" charset="0"/>
              </a:rPr>
              <a:t>1.Prioritize First-Impression Design</a:t>
            </a:r>
            <a:br>
              <a:rPr lang="en-US" sz="1750" dirty="0">
                <a:solidFill>
                  <a:srgbClr val="DAD1E6"/>
                </a:solidFill>
                <a:latin typeface="Fira Sans" panose="020B0503050000020004" pitchFamily="34" charset="0"/>
              </a:rPr>
            </a:br>
            <a:r>
              <a:rPr lang="en-US" sz="1600" dirty="0">
                <a:solidFill>
                  <a:srgbClr val="DAD1E6"/>
                </a:solidFill>
                <a:latin typeface="Fira Sans" panose="020B0503050000020004" pitchFamily="34" charset="0"/>
              </a:rPr>
              <a:t>Optimize envelope layout, typography, and headline hierarchy to ensure instant visual recognition.</a:t>
            </a:r>
            <a:br>
              <a:rPr lang="en-US" sz="1600" dirty="0">
                <a:solidFill>
                  <a:srgbClr val="DAD1E6"/>
                </a:solidFill>
                <a:latin typeface="Fira Sans" panose="020B0503050000020004" pitchFamily="34" charset="0"/>
              </a:rPr>
            </a:br>
            <a:r>
              <a:rPr lang="en-US" sz="1600" dirty="0">
                <a:solidFill>
                  <a:srgbClr val="DAD1E6"/>
                </a:solidFill>
                <a:latin typeface="Fira Sans" panose="020B0503050000020004" pitchFamily="34" charset="0"/>
              </a:rPr>
              <a:t>The mailer must communicate relevance and urgency before it is even opened.</a:t>
            </a:r>
            <a:endParaRPr lang="en-US" sz="1600" dirty="0">
              <a:solidFill>
                <a:srgbClr val="DAD1E6"/>
              </a:solidFill>
              <a:latin typeface="Fira Sans" panose="020B05030500000200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u="sng" dirty="0">
                <a:solidFill>
                  <a:srgbClr val="DAD1E6"/>
                </a:solidFill>
                <a:latin typeface="Fira Sans" panose="020B0503050000020004" pitchFamily="34" charset="0"/>
              </a:rPr>
              <a:t>2.Segment and Tailor Creative by Demographic</a:t>
            </a:r>
            <a:br>
              <a:rPr lang="en-US" sz="1750" dirty="0">
                <a:solidFill>
                  <a:srgbClr val="DAD1E6"/>
                </a:solidFill>
                <a:latin typeface="Fira Sans" panose="020B0503050000020004" pitchFamily="34" charset="0"/>
              </a:rPr>
            </a:br>
            <a:r>
              <a:rPr lang="en-US" sz="1600" dirty="0">
                <a:solidFill>
                  <a:srgbClr val="DAD1E6"/>
                </a:solidFill>
                <a:latin typeface="Fira Sans" panose="020B0503050000020004" pitchFamily="34" charset="0"/>
              </a:rPr>
              <a:t>Adapt tone, color palette, and message framing for key groups—particularly males and middle-income households, who showed the strongest engagement lift.</a:t>
            </a:r>
            <a:endParaRPr lang="en-US" sz="1600" dirty="0">
              <a:solidFill>
                <a:srgbClr val="DAD1E6"/>
              </a:solidFill>
              <a:latin typeface="Fira Sans" panose="020B05030500000200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u="sng" dirty="0">
                <a:solidFill>
                  <a:srgbClr val="DAD1E6"/>
                </a:solidFill>
                <a:latin typeface="Fira Sans" panose="020B0503050000020004" pitchFamily="34" charset="0"/>
              </a:rPr>
              <a:t>3.Strengthen Content-Driven Conversion</a:t>
            </a:r>
            <a:br>
              <a:rPr lang="en-US" sz="1750" dirty="0">
                <a:solidFill>
                  <a:srgbClr val="DAD1E6"/>
                </a:solidFill>
                <a:latin typeface="Fira Sans" panose="020B0503050000020004" pitchFamily="34" charset="0"/>
              </a:rPr>
            </a:br>
            <a:r>
              <a:rPr lang="en-US" sz="1600" dirty="0">
                <a:solidFill>
                  <a:srgbClr val="DAD1E6"/>
                </a:solidFill>
                <a:latin typeface="Fira Sans" panose="020B0503050000020004" pitchFamily="34" charset="0"/>
              </a:rPr>
              <a:t>Refine the internal copy with clearer calls-to-action, simplified benefit statements, and trust cues such as endorsements or plan guarantees.</a:t>
            </a:r>
            <a:endParaRPr lang="en-US" sz="1600" dirty="0">
              <a:solidFill>
                <a:srgbClr val="DAD1E6"/>
              </a:solidFill>
              <a:latin typeface="Fira Sans" panose="020B05030500000200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u="sng" dirty="0">
                <a:solidFill>
                  <a:srgbClr val="DAD1E6"/>
                </a:solidFill>
                <a:latin typeface="Fira Sans" panose="020B0503050000020004" pitchFamily="34" charset="0"/>
              </a:rPr>
              <a:t>4.Integrate Future Testing and Personalization</a:t>
            </a:r>
            <a:br>
              <a:rPr lang="en-US" sz="1750" dirty="0">
                <a:solidFill>
                  <a:srgbClr val="DAD1E6"/>
                </a:solidFill>
                <a:latin typeface="Fira Sans" panose="020B0503050000020004" pitchFamily="34" charset="0"/>
              </a:rPr>
            </a:br>
            <a:r>
              <a:rPr lang="en-US" sz="1600" dirty="0">
                <a:solidFill>
                  <a:srgbClr val="DAD1E6"/>
                </a:solidFill>
                <a:latin typeface="Fira Sans" panose="020B0503050000020004" pitchFamily="34" charset="0"/>
              </a:rPr>
              <a:t>Implement follow-up experiments combining direct-mail with digital touchpoints, exploring personalized messaging to translate attention into measurable response.</a:t>
            </a:r>
            <a:endParaRPr lang="en-US" sz="1600" dirty="0">
              <a:solidFill>
                <a:srgbClr val="DAD1E6"/>
              </a:solidFill>
              <a:latin typeface="Fira Sans" panose="020B05030500000200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600" dirty="0">
              <a:solidFill>
                <a:srgbClr val="DAD1E6"/>
              </a:solidFill>
              <a:latin typeface="Fira Sans" panose="020B05030500000200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anose="020B0503050000020004" pitchFamily="34" charset="0"/>
              </a:rPr>
              <a:t>Overall, turning a strong first impression into real action will depend on combining visual clarity, audience insight, and message authenticity</a:t>
            </a:r>
            <a:endParaRPr lang="en-US" sz="1750" dirty="0">
              <a:solidFill>
                <a:srgbClr val="DAD1E6"/>
              </a:solidFill>
              <a:latin typeface="Fira Sans" panose="020B05030500000200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22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8381" y="7683818"/>
            <a:ext cx="1664811" cy="5192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788670" y="619720"/>
            <a:ext cx="4789051" cy="5985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>
                <a:solidFill>
                  <a:srgbClr val="F94CAF">
                    <a:alpha val="100000"/>
                  </a:srgbClr>
                </a:solidFill>
                <a:latin typeface="Inconsolata Bold"/>
                <a:ea typeface="Inconsolata Bold"/>
                <a:cs typeface="+mn-cs"/>
              </a:rPr>
              <a:t>A "Neither" Choice</a:t>
            </a:r>
            <a:endParaRPr lang="en-US" sz="3750" b="1">
              <a:solidFill>
                <a:srgbClr val="F94CAF">
                  <a:alpha val="100000"/>
                </a:srgbClr>
              </a:solidFill>
              <a:latin typeface="Inconsolata Bold"/>
              <a:ea typeface="Inconsolata Bold"/>
              <a:cs typeface="+mn-cs"/>
            </a:endParaRPr>
          </a:p>
        </p:txBody>
      </p:sp>
      <p:sp>
        <p:nvSpPr>
          <p:cNvPr id="29" name="Text 1"/>
          <p:cNvSpPr/>
          <p:nvPr/>
        </p:nvSpPr>
        <p:spPr>
          <a:xfrm>
            <a:off x="788670" y="1511503"/>
            <a:ext cx="12408005" cy="56805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sz="1800"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Although Option A wins on visual appeal and first-impression metrics (Column E), both ads score identically on behavioral intention (Column S).</a:t>
            </a:r>
            <a:endParaRPr sz="1800" b="1">
              <a:solidFill>
                <a:schemeClr val="bg1">
                  <a:alpha val="100000"/>
                </a:schemeClr>
              </a:solidFill>
              <a:latin typeface="Times New Roman" panose="02020603050405020304"/>
              <a:ea typeface="Times New Roman" panose="02020603050405020304"/>
              <a:cs typeface="+mn-cs"/>
            </a:endParaRPr>
          </a:p>
          <a:p>
            <a:pPr lvl="0">
              <a:lnSpc>
                <a:spcPct val="150000"/>
              </a:lnSpc>
            </a:pPr>
            <a:r>
              <a:rPr sz="1800"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This points to a common weakness in messaging and call-to-action.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等线"/>
              <a:cs typeface="+mn-cs"/>
            </a:endParaRPr>
          </a:p>
          <a:p>
            <a:pPr lvl="0">
              <a:lnSpc>
                <a:spcPct val="150000"/>
              </a:lnSpc>
            </a:pPr>
            <a:endParaRPr lang="en-US" sz="1800" b="1">
              <a:solidFill>
                <a:schemeClr val="bg1">
                  <a:alpha val="100000"/>
                </a:schemeClr>
              </a:solidFill>
              <a:latin typeface="Times New Roman" panose="02020603050405020304"/>
              <a:ea typeface="Times New Roman" panose="02020603050405020304"/>
              <a:cs typeface="+mn-cs"/>
            </a:endParaRPr>
          </a:p>
          <a:p>
            <a:pPr lvl="0">
              <a:lnSpc>
                <a:spcPct val="150000"/>
              </a:lnSpc>
            </a:pPr>
            <a:r>
              <a:rPr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Since neither ad produced a lift in “Next Step” actions, a third variant could experiment with personalized messaging and digital integration.</a:t>
            </a:r>
            <a:endParaRPr b="1">
              <a:solidFill>
                <a:schemeClr val="bg1">
                  <a:alpha val="100000"/>
                </a:schemeClr>
              </a:solidFill>
              <a:latin typeface="Times New Roman" panose="02020603050405020304"/>
              <a:ea typeface="Times New Roman" panose="02020603050405020304"/>
              <a:cs typeface="+mn-cs"/>
            </a:endParaRPr>
          </a:p>
          <a:p>
            <a:pPr>
              <a:lnSpc>
                <a:spcPct val="150000"/>
              </a:lnSpc>
            </a:pPr>
            <a:r>
              <a:rPr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Our data suggest that whileattention (“open rate”)is achieved,conversion (“next step”)is not.</a:t>
            </a:r>
            <a:endParaRPr b="1">
              <a:solidFill>
                <a:schemeClr val="bg1">
                  <a:alpha val="100000"/>
                </a:schemeClr>
              </a:solidFill>
              <a:latin typeface="Times New Roman" panose="02020603050405020304"/>
              <a:ea typeface="Times New Roman" panose="02020603050405020304"/>
              <a:cs typeface="+mn-cs"/>
            </a:endParaRPr>
          </a:p>
          <a:p>
            <a:pPr>
              <a:lnSpc>
                <a:spcPct val="150000"/>
              </a:lnSpc>
            </a:pPr>
            <a:r>
              <a:rPr b="1">
                <a:solidFill>
                  <a:schemeClr val="bg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A hybrid approach that retains Option A’s design clarity but adds stronger benefit statements and action triggers could close this gap.</a:t>
            </a:r>
            <a:endParaRPr b="1">
              <a:solidFill>
                <a:schemeClr val="bg1">
                  <a:alpha val="100000"/>
                </a:schemeClr>
              </a:solidFill>
              <a:latin typeface="Times New Roman" panose="02020603050405020304"/>
              <a:ea typeface="Times New Roman" panose="02020603050405020304"/>
              <a:cs typeface="+mn-cs"/>
            </a:endParaRPr>
          </a:p>
        </p:txBody>
      </p:sp>
      <p:pic>
        <p:nvPicPr>
          <p:cNvPr id="30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8381" y="7683818"/>
            <a:ext cx="1664811" cy="5192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2840</Words>
  <Application>WPS Writer</Application>
  <PresentationFormat/>
  <Paragraphs>56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8" baseType="lpstr">
      <vt:lpstr>Arial</vt:lpstr>
      <vt:lpstr>宋体</vt:lpstr>
      <vt:lpstr>Wingdings</vt:lpstr>
      <vt:lpstr>BIZ UDPMincho Medium</vt:lpstr>
      <vt:lpstr>冬青黑体简体中文</vt:lpstr>
      <vt:lpstr>Inconsolata Bold</vt:lpstr>
      <vt:lpstr>Inconsolata Bold</vt:lpstr>
      <vt:lpstr>Inconsolata Bold</vt:lpstr>
      <vt:lpstr>Fira Sans</vt:lpstr>
      <vt:lpstr>Fira Sans</vt:lpstr>
      <vt:lpstr>Fira Sans</vt:lpstr>
      <vt:lpstr>Times New Roman</vt:lpstr>
      <vt:lpstr>Calibri</vt:lpstr>
      <vt:lpstr>Helvetica Neue</vt:lpstr>
      <vt:lpstr>等线</vt:lpstr>
      <vt:lpstr>Inconsolata Bold</vt:lpstr>
      <vt:lpstr>微软雅黑</vt:lpstr>
      <vt:lpstr>汉仪旗黑</vt:lpstr>
      <vt:lpstr>宋体</vt:lpstr>
      <vt:lpstr>Arial Unicode MS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”</cp:lastModifiedBy>
  <cp:revision>2</cp:revision>
  <dcterms:created xsi:type="dcterms:W3CDTF">2025-11-21T00:37:41Z</dcterms:created>
  <dcterms:modified xsi:type="dcterms:W3CDTF">2025-11-21T00:37:41Z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615ACEEEFDAAD53E4D881F69E0CD59FC_43</vt:lpwstr>
  </property>
  <property fmtid="{D5CDD505-2E9C-101B-9397-08002B2CF9AE}" pid="3" name="KSOProductBuildVer">
    <vt:lpwstr>1033-6.4.0.8550</vt:lpwstr>
  </property>
</Properties>
</file>